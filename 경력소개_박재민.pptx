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0" r:id="rId1"/>
  </p:sldMasterIdLst>
  <p:notesMasterIdLst>
    <p:notesMasterId r:id="rId12"/>
  </p:notesMasterIdLst>
  <p:handoutMasterIdLst>
    <p:handoutMasterId r:id="rId13"/>
  </p:handoutMasterIdLst>
  <p:sldIdLst>
    <p:sldId id="260" r:id="rId2"/>
    <p:sldId id="291" r:id="rId3"/>
    <p:sldId id="305" r:id="rId4"/>
    <p:sldId id="300" r:id="rId5"/>
    <p:sldId id="309" r:id="rId6"/>
    <p:sldId id="308" r:id="rId7"/>
    <p:sldId id="310" r:id="rId8"/>
    <p:sldId id="311" r:id="rId9"/>
    <p:sldId id="312" r:id="rId10"/>
    <p:sldId id="287" r:id="rId11"/>
  </p:sldIdLst>
  <p:sldSz cx="9144000" cy="6858000" type="screen4x3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276" y="-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3355" y="-86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A8E1E-BB11-405C-989C-4DB5624FF592}" type="datetimeFigureOut">
              <a:rPr lang="ko-KR" altLang="en-US" smtClean="0"/>
              <a:t>2020-07-23(Thu)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0F98E5-8781-4CDA-B05B-195904B0B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772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742811-21B4-4D46-A5F1-13CC89CF3CF4}" type="datetimeFigureOut">
              <a:rPr lang="ko-KR" altLang="en-US" smtClean="0"/>
              <a:t>2020-07-23(Thu)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49B649-5350-48DE-9897-0508C74DCF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22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78C59E-85A2-4950-8453-8BC5FD5F6EA4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78C59E-85A2-4950-8453-8BC5FD5F6EA4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78C59E-85A2-4950-8453-8BC5FD5F6EA4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78C59E-85A2-4950-8453-8BC5FD5F6EA4}" type="slidenum">
              <a:rPr lang="ko-KR" altLang="en-US" smtClean="0"/>
              <a:pPr>
                <a:defRPr/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78C59E-85A2-4950-8453-8BC5FD5F6EA4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78C59E-85A2-4950-8453-8BC5FD5F6EA4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78C59E-85A2-4950-8453-8BC5FD5F6EA4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78C59E-85A2-4950-8453-8BC5FD5F6EA4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78C59E-85A2-4950-8453-8BC5FD5F6EA4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78C59E-85A2-4950-8453-8BC5FD5F6EA4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8A60E-10EB-419B-9D3E-946F19B96323}" type="datetimeFigureOut">
              <a:rPr lang="ko-KR" altLang="en-US"/>
              <a:pPr>
                <a:defRPr/>
              </a:pPr>
              <a:t>2020-07-23(Thu)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286C45-104C-4886-BB7F-E06FE623477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77B8A6-87CA-4C50-B3EA-CA7445734CD0}" type="datetimeFigureOut">
              <a:rPr lang="ko-KR" altLang="en-US"/>
              <a:pPr>
                <a:defRPr/>
              </a:pPr>
              <a:t>2020-07-23(Thu)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ACD8C1-6157-48A7-81EF-89D3FE11F77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2051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59913A1-08A8-4A18-8F98-F884BBB42E98}" type="datetimeFigureOut">
              <a:rPr lang="ko-KR" altLang="en-US"/>
              <a:pPr>
                <a:defRPr/>
              </a:pPr>
              <a:t>2020-07-23(Thu)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/>
              <a:t>Copyright © Samsung Electronics Co., LTD. All Rights Reserve.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0FECB03-0762-419E-9A92-773D75116ED8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1" r:id="rId1"/>
    <p:sldLayoutId id="2147484217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제목 1"/>
          <p:cNvSpPr>
            <a:spLocks noGrp="1"/>
          </p:cNvSpPr>
          <p:nvPr>
            <p:ph type="ctrTitle"/>
          </p:nvPr>
        </p:nvSpPr>
        <p:spPr>
          <a:xfrm>
            <a:off x="1249363" y="1406475"/>
            <a:ext cx="6715125" cy="1014413"/>
          </a:xfrm>
        </p:spPr>
        <p:txBody>
          <a:bodyPr/>
          <a:lstStyle/>
          <a:p>
            <a:pPr eaLnBrk="1" hangingPunct="1"/>
            <a:r>
              <a:rPr lang="en-US" altLang="ko-KR" sz="3600" b="1" dirty="0" smtClean="0">
                <a:solidFill>
                  <a:schemeClr val="tx2"/>
                </a:solidFill>
              </a:rPr>
              <a:t>PORTFOLIO PRESENTATION</a:t>
            </a:r>
            <a:endParaRPr lang="ko-KR" altLang="en-US" sz="3600" b="1" dirty="0" smtClean="0">
              <a:solidFill>
                <a:schemeClr val="tx2"/>
              </a:solidFill>
            </a:endParaRPr>
          </a:p>
        </p:txBody>
      </p:sp>
      <p:sp>
        <p:nvSpPr>
          <p:cNvPr id="14340" name="부제목 2"/>
          <p:cNvSpPr>
            <a:spLocks noGrp="1"/>
          </p:cNvSpPr>
          <p:nvPr>
            <p:ph type="subTitle" idx="1"/>
          </p:nvPr>
        </p:nvSpPr>
        <p:spPr>
          <a:xfrm>
            <a:off x="1475656" y="4293096"/>
            <a:ext cx="6264695" cy="78581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ko-KR" altLang="en-US" sz="1400" b="1" dirty="0" smtClean="0">
                <a:solidFill>
                  <a:schemeClr val="tx1"/>
                </a:solidFill>
              </a:rPr>
              <a:t>경력소개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포트폴리오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ko-KR" altLang="en-US" sz="1400" b="1" dirty="0" smtClean="0">
                <a:solidFill>
                  <a:schemeClr val="tx1"/>
                </a:solidFill>
              </a:rPr>
              <a:t>박 재 민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3"/>
          <p:cNvSpPr txBox="1">
            <a:spLocks/>
          </p:cNvSpPr>
          <p:nvPr/>
        </p:nvSpPr>
        <p:spPr>
          <a:xfrm>
            <a:off x="3059832" y="1028511"/>
            <a:ext cx="2664296" cy="384265"/>
          </a:xfrm>
          <a:prstGeom prst="roundRect">
            <a:avLst>
              <a:gd name="adj" fmla="val 19456"/>
            </a:avLst>
          </a:prstGeom>
          <a:solidFill>
            <a:schemeClr val="tx2"/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kumimoji="0" lang="en-US" altLang="ko-KR" b="1" dirty="0" smtClean="0">
                <a:solidFill>
                  <a:schemeClr val="bg1"/>
                </a:solidFill>
                <a:latin typeface="Mongolian Baiti" pitchFamily="66" charset="0"/>
                <a:ea typeface="+mj-ea"/>
                <a:cs typeface="Mongolian Baiti" pitchFamily="66" charset="0"/>
              </a:rPr>
              <a:t>Career  Outline</a:t>
            </a:r>
            <a:endParaRPr kumimoji="0" lang="ko-KR" altLang="en-US" b="1" dirty="0">
              <a:solidFill>
                <a:schemeClr val="bg1"/>
              </a:solidFill>
              <a:latin typeface="Mongolian Baiti" pitchFamily="66" charset="0"/>
              <a:ea typeface="+mj-ea"/>
              <a:cs typeface="Mongolian Baiti" pitchFamily="66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131840" y="1772816"/>
            <a:ext cx="58326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sz="1500" dirty="0" smtClean="0">
                <a:latin typeface="+mn-ea"/>
                <a:ea typeface="+mn-ea"/>
              </a:rPr>
              <a:t>충북 청주신흥고등학교 졸업 </a:t>
            </a:r>
            <a:r>
              <a:rPr lang="en-US" altLang="ko-KR" sz="1500" dirty="0" smtClean="0">
                <a:latin typeface="+mn-ea"/>
                <a:ea typeface="+mn-ea"/>
              </a:rPr>
              <a:t>(2002.03 ~ 2005.02)</a:t>
            </a:r>
          </a:p>
          <a:p>
            <a:pPr>
              <a:buFont typeface="Arial" pitchFamily="34" charset="0"/>
              <a:buChar char="•"/>
            </a:pPr>
            <a:endParaRPr lang="en-US" altLang="ko-KR" sz="1500" dirty="0">
              <a:latin typeface="+mn-ea"/>
              <a:ea typeface="+mn-ea"/>
            </a:endParaRPr>
          </a:p>
          <a:p>
            <a:pPr>
              <a:buFont typeface="Arial" pitchFamily="34" charset="0"/>
              <a:buChar char="•"/>
            </a:pPr>
            <a:r>
              <a:rPr lang="ko-KR" altLang="en-US" sz="1500" dirty="0" smtClean="0">
                <a:latin typeface="+mn-ea"/>
                <a:ea typeface="+mn-ea"/>
              </a:rPr>
              <a:t>서울 노량진 대성학원 재수 </a:t>
            </a:r>
            <a:r>
              <a:rPr lang="en-US" altLang="ko-KR" sz="1500" dirty="0" smtClean="0">
                <a:latin typeface="+mn-ea"/>
                <a:ea typeface="+mn-ea"/>
              </a:rPr>
              <a:t>(2005.02 ~2005.12)</a:t>
            </a:r>
          </a:p>
          <a:p>
            <a:pPr>
              <a:buFont typeface="Arial" pitchFamily="34" charset="0"/>
              <a:buChar char="•"/>
            </a:pPr>
            <a:endParaRPr lang="en-US" altLang="ko-KR" sz="1500" dirty="0" smtClean="0">
              <a:latin typeface="+mn-ea"/>
              <a:ea typeface="+mn-ea"/>
            </a:endParaRPr>
          </a:p>
          <a:p>
            <a:pPr>
              <a:buFont typeface="Arial" pitchFamily="34" charset="0"/>
              <a:buChar char="•"/>
            </a:pPr>
            <a:r>
              <a:rPr lang="ko-KR" altLang="en-US" sz="1500" dirty="0" smtClean="0">
                <a:latin typeface="+mn-ea"/>
                <a:ea typeface="+mn-ea"/>
              </a:rPr>
              <a:t>서울대학교 컴퓨터 공학부 학사 졸업 </a:t>
            </a:r>
            <a:r>
              <a:rPr lang="en-US" altLang="ko-KR" sz="1500" dirty="0" smtClean="0">
                <a:latin typeface="+mn-ea"/>
                <a:ea typeface="+mn-ea"/>
              </a:rPr>
              <a:t>(2006.03 ~ 2013.02)</a:t>
            </a:r>
          </a:p>
          <a:p>
            <a:pPr>
              <a:buFont typeface="Arial" pitchFamily="34" charset="0"/>
              <a:buChar char="•"/>
            </a:pPr>
            <a:endParaRPr lang="en-US" altLang="ko-KR" sz="1500" dirty="0" smtClean="0">
              <a:latin typeface="+mn-ea"/>
              <a:ea typeface="+mn-ea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1500" dirty="0" smtClean="0">
                <a:latin typeface="+mn-ea"/>
                <a:ea typeface="+mn-ea"/>
              </a:rPr>
              <a:t>SK Communications </a:t>
            </a:r>
            <a:r>
              <a:rPr lang="ko-KR" altLang="en-US" sz="1500" dirty="0" smtClean="0">
                <a:latin typeface="+mn-ea"/>
                <a:ea typeface="+mn-ea"/>
              </a:rPr>
              <a:t>인턴 </a:t>
            </a:r>
            <a:r>
              <a:rPr lang="en-US" altLang="ko-KR" sz="1500" dirty="0" smtClean="0">
                <a:latin typeface="+mn-ea"/>
                <a:ea typeface="+mn-ea"/>
              </a:rPr>
              <a:t>(2007.07 ~ 2007.08)</a:t>
            </a:r>
            <a:endParaRPr lang="en-US" altLang="ko-KR" sz="1500" dirty="0">
              <a:latin typeface="+mn-ea"/>
              <a:ea typeface="+mn-ea"/>
            </a:endParaRPr>
          </a:p>
          <a:p>
            <a:pPr>
              <a:buFont typeface="Arial" pitchFamily="34" charset="0"/>
              <a:buChar char="•"/>
            </a:pPr>
            <a:endParaRPr lang="en-US" altLang="ko-KR" sz="1500" dirty="0" smtClean="0">
              <a:latin typeface="+mn-ea"/>
              <a:ea typeface="+mn-ea"/>
            </a:endParaRPr>
          </a:p>
          <a:p>
            <a:pPr>
              <a:buFont typeface="Arial" pitchFamily="34" charset="0"/>
              <a:buChar char="•"/>
            </a:pPr>
            <a:r>
              <a:rPr lang="ko-KR" altLang="en-US" sz="1500" dirty="0" smtClean="0">
                <a:latin typeface="+mn-ea"/>
                <a:ea typeface="+mn-ea"/>
              </a:rPr>
              <a:t>캐나다 어학연수 </a:t>
            </a:r>
            <a:r>
              <a:rPr lang="en-US" altLang="ko-KR" sz="1500" dirty="0" smtClean="0">
                <a:latin typeface="+mn-ea"/>
                <a:ea typeface="+mn-ea"/>
              </a:rPr>
              <a:t>(2009.08 ~ 2009.10)</a:t>
            </a:r>
          </a:p>
          <a:p>
            <a:pPr>
              <a:buFont typeface="Arial" pitchFamily="34" charset="0"/>
              <a:buChar char="•"/>
            </a:pPr>
            <a:endParaRPr lang="en-US" altLang="ko-KR" sz="1500" dirty="0">
              <a:latin typeface="+mn-ea"/>
              <a:ea typeface="+mn-ea"/>
            </a:endParaRPr>
          </a:p>
          <a:p>
            <a:pPr>
              <a:buFont typeface="Arial" pitchFamily="34" charset="0"/>
              <a:buChar char="•"/>
            </a:pPr>
            <a:r>
              <a:rPr lang="ko-KR" altLang="en-US" sz="1500" dirty="0" smtClean="0">
                <a:latin typeface="+mn-ea"/>
                <a:ea typeface="+mn-ea"/>
              </a:rPr>
              <a:t>군복무 서울지방경찰청 전경관리계 인사대원 </a:t>
            </a:r>
            <a:r>
              <a:rPr lang="en-US" altLang="ko-KR" sz="1500" dirty="0" smtClean="0">
                <a:latin typeface="+mn-ea"/>
                <a:ea typeface="+mn-ea"/>
              </a:rPr>
              <a:t>(2009.11 ~ 2011.08)</a:t>
            </a:r>
            <a:endParaRPr lang="en-US" altLang="ko-KR" sz="1500" dirty="0">
              <a:latin typeface="+mn-ea"/>
              <a:ea typeface="+mn-ea"/>
            </a:endParaRPr>
          </a:p>
          <a:p>
            <a:pPr>
              <a:buFont typeface="Arial" pitchFamily="34" charset="0"/>
              <a:buChar char="•"/>
            </a:pPr>
            <a:endParaRPr lang="en-US" altLang="ko-KR" sz="1500" dirty="0" smtClean="0">
              <a:latin typeface="+mn-ea"/>
              <a:ea typeface="+mn-ea"/>
            </a:endParaRPr>
          </a:p>
          <a:p>
            <a:pPr>
              <a:buFont typeface="Arial" pitchFamily="34" charset="0"/>
              <a:buChar char="•"/>
            </a:pPr>
            <a:r>
              <a:rPr lang="ko-KR" altLang="en-US" sz="1500" b="1" dirty="0" smtClean="0">
                <a:latin typeface="+mn-ea"/>
                <a:ea typeface="+mn-ea"/>
              </a:rPr>
              <a:t>삼성전자 입사 </a:t>
            </a:r>
            <a:r>
              <a:rPr lang="en-US" altLang="ko-KR" sz="1500" b="1" dirty="0" smtClean="0">
                <a:latin typeface="+mn-ea"/>
                <a:ea typeface="+mn-ea"/>
              </a:rPr>
              <a:t>(2013.01 ~ 2018.06)</a:t>
            </a:r>
          </a:p>
          <a:p>
            <a:pPr>
              <a:buFont typeface="Arial" pitchFamily="34" charset="0"/>
              <a:buChar char="•"/>
            </a:pPr>
            <a:endParaRPr lang="en-US" altLang="ko-KR" sz="1500" b="1" dirty="0" smtClean="0">
              <a:latin typeface="+mn-ea"/>
              <a:ea typeface="+mn-ea"/>
            </a:endParaRPr>
          </a:p>
          <a:p>
            <a:pPr>
              <a:buFont typeface="Arial" pitchFamily="34" charset="0"/>
              <a:buChar char="•"/>
            </a:pPr>
            <a:r>
              <a:rPr lang="ko-KR" altLang="en-US" sz="1500" b="1" dirty="0" smtClean="0">
                <a:latin typeface="+mn-ea"/>
                <a:ea typeface="+mn-ea"/>
              </a:rPr>
              <a:t>한국주택금융공사 입사 </a:t>
            </a:r>
            <a:r>
              <a:rPr lang="en-US" altLang="ko-KR" sz="1500" b="1" dirty="0" smtClean="0">
                <a:latin typeface="+mn-ea"/>
                <a:ea typeface="+mn-ea"/>
              </a:rPr>
              <a:t>(2018.06 ~ 2019.06)</a:t>
            </a:r>
          </a:p>
          <a:p>
            <a:pPr>
              <a:buFont typeface="Arial" pitchFamily="34" charset="0"/>
              <a:buChar char="•"/>
            </a:pPr>
            <a:endParaRPr lang="ko-KR" altLang="en-US" sz="1500" dirty="0">
              <a:latin typeface="+mn-ea"/>
              <a:ea typeface="+mn-ea"/>
            </a:endParaRPr>
          </a:p>
        </p:txBody>
      </p:sp>
      <p:pic>
        <p:nvPicPr>
          <p:cNvPr id="1026" name="Picture 2" descr="C:\Users\spjm2\Desktop\나\증명사진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72816"/>
            <a:ext cx="214312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603002" y="4941168"/>
            <a:ext cx="1872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latin typeface="+mn-ea"/>
                <a:ea typeface="+mn-ea"/>
              </a:rPr>
              <a:t>박 재 민 </a:t>
            </a:r>
            <a:r>
              <a:rPr lang="en-US" altLang="ko-KR" sz="1600" b="1" dirty="0" smtClean="0">
                <a:latin typeface="+mn-ea"/>
                <a:ea typeface="+mn-ea"/>
              </a:rPr>
              <a:t>(</a:t>
            </a:r>
            <a:r>
              <a:rPr lang="ko-KR" altLang="en-US" sz="1600" b="1" dirty="0" smtClean="0">
                <a:latin typeface="+mn-ea"/>
                <a:ea typeface="+mn-ea"/>
              </a:rPr>
              <a:t>朴 宰 民</a:t>
            </a:r>
            <a:r>
              <a:rPr lang="en-US" altLang="ko-KR" sz="1600" b="1" dirty="0" smtClean="0">
                <a:latin typeface="+mn-ea"/>
                <a:ea typeface="+mn-ea"/>
              </a:rPr>
              <a:t>)</a:t>
            </a:r>
          </a:p>
          <a:p>
            <a:endParaRPr lang="en-US" altLang="ko-KR" sz="1600" b="1" dirty="0">
              <a:latin typeface="+mn-ea"/>
              <a:ea typeface="+mn-ea"/>
            </a:endParaRPr>
          </a:p>
          <a:p>
            <a:r>
              <a:rPr lang="en-US" altLang="ko-KR" sz="1600" b="1" dirty="0" smtClean="0">
                <a:latin typeface="+mn-ea"/>
                <a:ea typeface="+mn-ea"/>
              </a:rPr>
              <a:t>1986. 09. 13 </a:t>
            </a:r>
            <a:r>
              <a:rPr lang="ko-KR" altLang="en-US" sz="1600" b="1" dirty="0" smtClean="0">
                <a:latin typeface="+mn-ea"/>
                <a:ea typeface="+mn-ea"/>
              </a:rPr>
              <a:t>출생</a:t>
            </a:r>
            <a:r>
              <a:rPr lang="en-US" altLang="ko-KR" sz="1600" b="1" dirty="0" smtClean="0">
                <a:latin typeface="+mn-ea"/>
                <a:ea typeface="+mn-ea"/>
              </a:rPr>
              <a:t> </a:t>
            </a:r>
            <a:endParaRPr lang="ko-KR" altLang="en-US" sz="1600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9"/>
          <p:cNvSpPr/>
          <p:nvPr/>
        </p:nvSpPr>
        <p:spPr>
          <a:xfrm>
            <a:off x="251520" y="1268760"/>
            <a:ext cx="8352928" cy="5256584"/>
          </a:xfrm>
          <a:prstGeom prst="roundRect">
            <a:avLst>
              <a:gd name="adj" fmla="val 5496"/>
            </a:avLst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제목 3"/>
          <p:cNvSpPr txBox="1">
            <a:spLocks/>
          </p:cNvSpPr>
          <p:nvPr/>
        </p:nvSpPr>
        <p:spPr>
          <a:xfrm>
            <a:off x="3059832" y="1028511"/>
            <a:ext cx="2664296" cy="384265"/>
          </a:xfrm>
          <a:prstGeom prst="roundRect">
            <a:avLst>
              <a:gd name="adj" fmla="val 1945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kumimoji="0" lang="ko-KR" altLang="en-US" b="1" dirty="0" smtClean="0">
                <a:solidFill>
                  <a:schemeClr val="bg1"/>
                </a:solidFill>
                <a:latin typeface="Mongolian Baiti" pitchFamily="66" charset="0"/>
                <a:ea typeface="+mj-ea"/>
                <a:cs typeface="Mongolian Baiti" pitchFamily="66" charset="0"/>
              </a:rPr>
              <a:t>삼성전자 경력</a:t>
            </a:r>
            <a:endParaRPr kumimoji="0" lang="ko-KR" altLang="en-US" b="1" dirty="0">
              <a:solidFill>
                <a:schemeClr val="bg1"/>
              </a:solidFill>
              <a:latin typeface="Mongolian Baiti" pitchFamily="66" charset="0"/>
              <a:ea typeface="+mj-ea"/>
              <a:cs typeface="Mongolian Baiti" pitchFamily="66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3568" y="3140618"/>
            <a:ext cx="2664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  <a:ea typeface="+mn-ea"/>
              </a:rPr>
              <a:t>KNOX Container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3568" y="4271260"/>
            <a:ext cx="2664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  <a:ea typeface="+mn-ea"/>
              </a:rPr>
              <a:t>Samsung Pass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3568" y="5495396"/>
            <a:ext cx="2664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  <a:ea typeface="+mn-ea"/>
              </a:rPr>
              <a:t>Samsung Developer</a:t>
            </a:r>
            <a:br>
              <a:rPr lang="en-US" altLang="ko-KR" sz="1600" b="1" dirty="0" smtClean="0">
                <a:latin typeface="+mn-ea"/>
                <a:ea typeface="+mn-ea"/>
              </a:rPr>
            </a:br>
            <a:r>
              <a:rPr lang="en-US" altLang="ko-KR" sz="1600" b="1" dirty="0" smtClean="0">
                <a:latin typeface="+mn-ea"/>
                <a:ea typeface="+mn-ea"/>
              </a:rPr>
              <a:t>Ecosystem</a:t>
            </a:r>
            <a:endParaRPr lang="ko-KR" altLang="en-US" sz="1600" b="1" dirty="0" smtClean="0">
              <a:latin typeface="+mn-ea"/>
              <a:ea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3568" y="1988840"/>
            <a:ext cx="7416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latin typeface="+mn-ea"/>
                <a:ea typeface="+mn-ea"/>
              </a:rPr>
              <a:t> </a:t>
            </a:r>
            <a:r>
              <a:rPr lang="en-US" altLang="ko-KR" sz="1600" b="1" dirty="0" smtClean="0">
                <a:latin typeface="+mn-ea"/>
                <a:ea typeface="+mn-ea"/>
              </a:rPr>
              <a:t>- </a:t>
            </a:r>
            <a:r>
              <a:rPr lang="ko-KR" altLang="en-US" sz="1600" b="1" dirty="0" smtClean="0">
                <a:latin typeface="+mn-ea"/>
                <a:ea typeface="+mn-ea"/>
              </a:rPr>
              <a:t>총 </a:t>
            </a:r>
            <a:r>
              <a:rPr lang="en-US" altLang="ko-KR" sz="1600" b="1" dirty="0" smtClean="0">
                <a:latin typeface="+mn-ea"/>
                <a:ea typeface="+mn-ea"/>
              </a:rPr>
              <a:t>5</a:t>
            </a:r>
            <a:r>
              <a:rPr lang="ko-KR" altLang="en-US" sz="1600" b="1" dirty="0" smtClean="0">
                <a:latin typeface="+mn-ea"/>
                <a:ea typeface="+mn-ea"/>
              </a:rPr>
              <a:t>년 </a:t>
            </a:r>
            <a:r>
              <a:rPr lang="en-US" altLang="ko-KR" sz="1600" b="1" dirty="0" smtClean="0">
                <a:latin typeface="+mn-ea"/>
                <a:ea typeface="+mn-ea"/>
              </a:rPr>
              <a:t>6</a:t>
            </a:r>
            <a:r>
              <a:rPr lang="ko-KR" altLang="en-US" sz="1600" b="1" dirty="0" smtClean="0">
                <a:latin typeface="+mn-ea"/>
                <a:ea typeface="+mn-ea"/>
              </a:rPr>
              <a:t>개월 가량 근무 </a:t>
            </a:r>
            <a:r>
              <a:rPr lang="en-US" altLang="ko-KR" sz="1600" b="1" dirty="0" smtClean="0">
                <a:latin typeface="+mn-ea"/>
                <a:ea typeface="+mn-ea"/>
              </a:rPr>
              <a:t>(2013.01.10 ~ 2018.06.30)</a:t>
            </a:r>
          </a:p>
          <a:p>
            <a:r>
              <a:rPr lang="en-US" altLang="ko-KR" sz="1600" dirty="0" smtClean="0">
                <a:latin typeface="+mn-ea"/>
                <a:ea typeface="+mn-ea"/>
              </a:rPr>
              <a:t>※ </a:t>
            </a:r>
            <a:r>
              <a:rPr lang="en-US" altLang="ko-KR" sz="1600" dirty="0" err="1" smtClean="0">
                <a:latin typeface="+mn-ea"/>
                <a:ea typeface="+mn-ea"/>
              </a:rPr>
              <a:t>MediaSolutionCenter</a:t>
            </a:r>
            <a:r>
              <a:rPr lang="en-US" altLang="ko-KR" sz="1600" b="1" dirty="0" smtClean="0">
                <a:latin typeface="+mn-ea"/>
                <a:ea typeface="+mn-ea"/>
              </a:rPr>
              <a:t> </a:t>
            </a:r>
            <a:r>
              <a:rPr lang="ko-KR" altLang="en-US" sz="1600" dirty="0" smtClean="0">
                <a:latin typeface="+mn-ea"/>
                <a:ea typeface="+mn-ea"/>
              </a:rPr>
              <a:t>에서의 실내 </a:t>
            </a:r>
            <a:r>
              <a:rPr lang="en-US" altLang="ko-KR" sz="1600" dirty="0" smtClean="0">
                <a:latin typeface="+mn-ea"/>
                <a:ea typeface="+mn-ea"/>
              </a:rPr>
              <a:t>LBS </a:t>
            </a:r>
            <a:r>
              <a:rPr lang="ko-KR" altLang="en-US" sz="1600" dirty="0" smtClean="0">
                <a:latin typeface="+mn-ea"/>
                <a:ea typeface="+mn-ea"/>
              </a:rPr>
              <a:t>프로젝트는 진행 중단되어 미기재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1800" y="4338912"/>
            <a:ext cx="58326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sz="1500" dirty="0" smtClean="0">
                <a:latin typeface="+mn-ea"/>
                <a:ea typeface="+mn-ea"/>
              </a:rPr>
              <a:t> 무선사업부 개발실 </a:t>
            </a:r>
            <a:r>
              <a:rPr lang="en-US" altLang="ko-KR" sz="1500" dirty="0" smtClean="0">
                <a:latin typeface="+mn-ea"/>
                <a:ea typeface="+mn-ea"/>
              </a:rPr>
              <a:t>(2016.05.01 ~ 2018.02.28)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500" dirty="0" smtClean="0">
                <a:latin typeface="+mn-ea"/>
                <a:ea typeface="+mn-ea"/>
              </a:rPr>
              <a:t> </a:t>
            </a:r>
            <a:r>
              <a:rPr lang="ko-KR" altLang="en-US" sz="1500" dirty="0" smtClean="0">
                <a:latin typeface="+mn-ea"/>
                <a:ea typeface="+mn-ea"/>
              </a:rPr>
              <a:t>삼성전자 </a:t>
            </a:r>
            <a:r>
              <a:rPr lang="ko-KR" altLang="en-US" sz="1500" smtClean="0">
                <a:latin typeface="+mn-ea"/>
                <a:ea typeface="+mn-ea"/>
              </a:rPr>
              <a:t>생체 인증 </a:t>
            </a:r>
            <a:r>
              <a:rPr lang="ko-KR" altLang="en-US" sz="1500" dirty="0" smtClean="0">
                <a:latin typeface="+mn-ea"/>
                <a:ea typeface="+mn-ea"/>
              </a:rPr>
              <a:t>단말연계 서비스 백엔드 서버 개발</a:t>
            </a:r>
            <a:endParaRPr lang="ko-KR" altLang="en-US" sz="1500" dirty="0">
              <a:latin typeface="+mn-ea"/>
              <a:ea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771800" y="5539298"/>
            <a:ext cx="58326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500" dirty="0" smtClean="0">
                <a:latin typeface="+mn-ea"/>
                <a:ea typeface="+mn-ea"/>
              </a:rPr>
              <a:t> </a:t>
            </a:r>
            <a:r>
              <a:rPr lang="ko-KR" altLang="en-US" sz="1500" dirty="0" smtClean="0">
                <a:latin typeface="+mn-ea"/>
                <a:ea typeface="+mn-ea"/>
              </a:rPr>
              <a:t>무선사업부 서비스사업실 </a:t>
            </a:r>
            <a:r>
              <a:rPr lang="en-US" altLang="ko-KR" sz="1500" dirty="0" smtClean="0">
                <a:latin typeface="+mn-ea"/>
                <a:ea typeface="+mn-ea"/>
              </a:rPr>
              <a:t>(2018.03.01 ~ 2018.06.30)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500" dirty="0">
                <a:latin typeface="+mn-ea"/>
                <a:ea typeface="+mn-ea"/>
              </a:rPr>
              <a:t> </a:t>
            </a:r>
            <a:r>
              <a:rPr lang="ko-KR" altLang="en-US" sz="1500" dirty="0" smtClean="0">
                <a:latin typeface="+mn-ea"/>
                <a:ea typeface="+mn-ea"/>
              </a:rPr>
              <a:t>삼성 개발자 포탈 운영 및 개발자 행사</a:t>
            </a:r>
            <a:r>
              <a:rPr lang="en-US" altLang="ko-KR" sz="1500" dirty="0">
                <a:latin typeface="+mn-ea"/>
                <a:ea typeface="+mn-ea"/>
              </a:rPr>
              <a:t> </a:t>
            </a:r>
            <a:r>
              <a:rPr lang="ko-KR" altLang="en-US" sz="1500" dirty="0" smtClean="0">
                <a:latin typeface="+mn-ea"/>
                <a:ea typeface="+mn-ea"/>
              </a:rPr>
              <a:t>기획</a:t>
            </a:r>
            <a:endParaRPr lang="ko-KR" altLang="en-US" sz="1500" dirty="0">
              <a:latin typeface="+mn-ea"/>
              <a:ea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71800" y="3119132"/>
            <a:ext cx="58326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sz="1500" dirty="0" smtClean="0">
                <a:latin typeface="+mn-ea"/>
                <a:ea typeface="+mn-ea"/>
              </a:rPr>
              <a:t> 무선사업부 </a:t>
            </a:r>
            <a:r>
              <a:rPr lang="en-US" altLang="ko-KR" sz="1500" dirty="0" smtClean="0">
                <a:latin typeface="+mn-ea"/>
                <a:ea typeface="+mn-ea"/>
              </a:rPr>
              <a:t>B2B</a:t>
            </a:r>
            <a:r>
              <a:rPr lang="ko-KR" altLang="en-US" sz="1500" dirty="0" smtClean="0">
                <a:latin typeface="+mn-ea"/>
                <a:ea typeface="+mn-ea"/>
              </a:rPr>
              <a:t>개발팀 </a:t>
            </a:r>
            <a:r>
              <a:rPr lang="en-US" altLang="ko-KR" sz="1500" dirty="0" smtClean="0">
                <a:latin typeface="+mn-ea"/>
                <a:ea typeface="+mn-ea"/>
              </a:rPr>
              <a:t>(2013.12.02 ~ 2016.04.30)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500" dirty="0" smtClean="0">
                <a:latin typeface="+mn-ea"/>
                <a:ea typeface="+mn-ea"/>
              </a:rPr>
              <a:t> </a:t>
            </a:r>
            <a:r>
              <a:rPr lang="ko-KR" altLang="en-US" sz="1500" dirty="0" smtClean="0">
                <a:latin typeface="+mn-ea"/>
                <a:ea typeface="+mn-ea"/>
              </a:rPr>
              <a:t>안드로이드 보안 솔루션 </a:t>
            </a:r>
            <a:r>
              <a:rPr lang="en-US" altLang="ko-KR" sz="1500" dirty="0" smtClean="0">
                <a:latin typeface="+mn-ea"/>
                <a:ea typeface="+mn-ea"/>
              </a:rPr>
              <a:t>KNOX </a:t>
            </a:r>
            <a:r>
              <a:rPr lang="ko-KR" altLang="en-US" sz="1500" dirty="0" smtClean="0">
                <a:latin typeface="+mn-ea"/>
                <a:ea typeface="+mn-ea"/>
              </a:rPr>
              <a:t>기반인 보안 공간 개발</a:t>
            </a:r>
            <a:endParaRPr lang="ko-KR" altLang="en-US" sz="1500" dirty="0">
              <a:latin typeface="+mn-ea"/>
              <a:ea typeface="+mn-ea"/>
            </a:endParaRPr>
          </a:p>
        </p:txBody>
      </p:sp>
      <p:pic>
        <p:nvPicPr>
          <p:cNvPr id="6148" name="Picture 4" descr="ì¼ì±ì ëí ì´ë¯¸ì§ ê²ìê²°ê³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3306" y="1412776"/>
            <a:ext cx="1493110" cy="731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8230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9"/>
          <p:cNvSpPr/>
          <p:nvPr/>
        </p:nvSpPr>
        <p:spPr>
          <a:xfrm>
            <a:off x="251520" y="1268760"/>
            <a:ext cx="8352928" cy="5256584"/>
          </a:xfrm>
          <a:prstGeom prst="roundRect">
            <a:avLst>
              <a:gd name="adj" fmla="val 5496"/>
            </a:avLst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제목 3"/>
          <p:cNvSpPr txBox="1">
            <a:spLocks/>
          </p:cNvSpPr>
          <p:nvPr/>
        </p:nvSpPr>
        <p:spPr>
          <a:xfrm>
            <a:off x="3059832" y="1028511"/>
            <a:ext cx="2664296" cy="384265"/>
          </a:xfrm>
          <a:prstGeom prst="roundRect">
            <a:avLst>
              <a:gd name="adj" fmla="val 1945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kumimoji="0" lang="en-US" altLang="ko-KR" b="1" dirty="0" smtClean="0">
                <a:solidFill>
                  <a:schemeClr val="bg1"/>
                </a:solidFill>
                <a:latin typeface="Mongolian Baiti" pitchFamily="66" charset="0"/>
                <a:ea typeface="+mj-ea"/>
                <a:cs typeface="Mongolian Baiti" pitchFamily="66" charset="0"/>
              </a:rPr>
              <a:t>Samsung KNOX</a:t>
            </a:r>
            <a:endParaRPr kumimoji="0" lang="ko-KR" altLang="en-US" b="1" dirty="0">
              <a:solidFill>
                <a:schemeClr val="bg1"/>
              </a:solidFill>
              <a:latin typeface="Mongolian Baiti" pitchFamily="66" charset="0"/>
              <a:ea typeface="+mj-ea"/>
              <a:cs typeface="Mongolian Baiti" pitchFamily="66" charset="0"/>
            </a:endParaRPr>
          </a:p>
        </p:txBody>
      </p:sp>
      <p:pic>
        <p:nvPicPr>
          <p:cNvPr id="21" name="Picture 2" descr="ì¼ì± knoxì ëí ì´ë¯¸ì§ ê²ìê²°ê³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05" y="1935018"/>
            <a:ext cx="3672408" cy="1962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323528" y="4149080"/>
            <a:ext cx="813690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500" dirty="0" smtClean="0">
                <a:latin typeface="+mn-ea"/>
              </a:rPr>
              <a:t> KNOX </a:t>
            </a:r>
            <a:r>
              <a:rPr lang="ko-KR" altLang="en-US" sz="1500" dirty="0">
                <a:latin typeface="+mn-ea"/>
              </a:rPr>
              <a:t>는 삼성전자에서 높은 보안성이 요구되는 상황에서 </a:t>
            </a:r>
            <a:r>
              <a:rPr lang="ko-KR" altLang="en-US" sz="1500" dirty="0" smtClean="0">
                <a:latin typeface="+mn-ea"/>
              </a:rPr>
              <a:t>당사 </a:t>
            </a:r>
            <a:r>
              <a:rPr lang="en-US" altLang="ko-KR" sz="1500" dirty="0" smtClean="0">
                <a:latin typeface="+mn-ea"/>
              </a:rPr>
              <a:t>Android</a:t>
            </a:r>
            <a:r>
              <a:rPr lang="ko-KR" altLang="en-US" sz="1500" dirty="0" smtClean="0">
                <a:latin typeface="+mn-ea"/>
              </a:rPr>
              <a:t> 디바이스</a:t>
            </a:r>
            <a:r>
              <a:rPr lang="en-US" altLang="ko-KR" sz="1500" dirty="0" smtClean="0">
                <a:latin typeface="+mn-ea"/>
              </a:rPr>
              <a:t> </a:t>
            </a:r>
            <a:r>
              <a:rPr lang="ko-KR" altLang="en-US" sz="1500" dirty="0" smtClean="0">
                <a:latin typeface="+mn-ea"/>
              </a:rPr>
              <a:t>및 정보들을 </a:t>
            </a:r>
            <a:r>
              <a:rPr lang="ko-KR" altLang="en-US" sz="1500" dirty="0">
                <a:latin typeface="+mn-ea"/>
              </a:rPr>
              <a:t>보호하기 위해 만들어진 </a:t>
            </a:r>
            <a:r>
              <a:rPr lang="ko-KR" altLang="en-US" sz="1500" dirty="0" smtClean="0">
                <a:latin typeface="+mn-ea"/>
              </a:rPr>
              <a:t>하드웨어와 연계된 보안 플랫폼입니다</a:t>
            </a:r>
            <a:r>
              <a:rPr lang="en-US" altLang="ko-KR" sz="1500" dirty="0" smtClean="0">
                <a:latin typeface="+mn-ea"/>
              </a:rPr>
              <a:t>.</a:t>
            </a:r>
          </a:p>
          <a:p>
            <a:pPr>
              <a:buFont typeface="Arial" pitchFamily="34" charset="0"/>
              <a:buChar char="•"/>
            </a:pPr>
            <a:endParaRPr lang="en-US" altLang="ko-KR" sz="1500" dirty="0" smtClean="0">
              <a:latin typeface="+mn-ea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1500" dirty="0">
                <a:latin typeface="+mn-ea"/>
              </a:rPr>
              <a:t>B2B(</a:t>
            </a:r>
            <a:r>
              <a:rPr lang="ko-KR" altLang="en-US" sz="1500" dirty="0">
                <a:latin typeface="+mn-ea"/>
              </a:rPr>
              <a:t>삼성전자와 계약으로 </a:t>
            </a:r>
            <a:r>
              <a:rPr lang="en-US" altLang="ko-KR" sz="1500" dirty="0">
                <a:latin typeface="+mn-ea"/>
              </a:rPr>
              <a:t>KNOX Enterprise </a:t>
            </a:r>
            <a:r>
              <a:rPr lang="ko-KR" altLang="en-US" sz="1500" dirty="0">
                <a:latin typeface="+mn-ea"/>
              </a:rPr>
              <a:t>제공</a:t>
            </a:r>
            <a:r>
              <a:rPr lang="en-US" altLang="ko-KR" sz="1500" dirty="0">
                <a:latin typeface="+mn-ea"/>
              </a:rPr>
              <a:t>)</a:t>
            </a:r>
            <a:r>
              <a:rPr lang="ko-KR" altLang="en-US" sz="1500" dirty="0">
                <a:latin typeface="+mn-ea"/>
              </a:rPr>
              <a:t> 및 </a:t>
            </a:r>
            <a:r>
              <a:rPr lang="en-US" altLang="ko-KR" sz="1500" dirty="0">
                <a:latin typeface="+mn-ea"/>
              </a:rPr>
              <a:t>B2C(</a:t>
            </a:r>
            <a:r>
              <a:rPr lang="ko-KR" altLang="en-US" sz="1500" dirty="0">
                <a:latin typeface="+mn-ea"/>
              </a:rPr>
              <a:t>단말 내 보안폴더 기능</a:t>
            </a:r>
            <a:r>
              <a:rPr lang="en-US" altLang="ko-KR" sz="1500" dirty="0">
                <a:latin typeface="+mn-ea"/>
              </a:rPr>
              <a:t>)</a:t>
            </a:r>
            <a:r>
              <a:rPr lang="ko-KR" altLang="en-US" sz="1500" dirty="0">
                <a:latin typeface="+mn-ea"/>
              </a:rPr>
              <a:t>로 사용되고 </a:t>
            </a:r>
            <a:r>
              <a:rPr lang="ko-KR" altLang="en-US" sz="1500" dirty="0" smtClean="0">
                <a:latin typeface="+mn-ea"/>
              </a:rPr>
              <a:t>있습니다</a:t>
            </a:r>
            <a:r>
              <a:rPr lang="en-US" altLang="ko-KR" sz="1500" dirty="0" smtClean="0">
                <a:latin typeface="+mn-ea"/>
              </a:rPr>
              <a:t>.</a:t>
            </a:r>
          </a:p>
          <a:p>
            <a:pPr>
              <a:buFont typeface="Arial" pitchFamily="34" charset="0"/>
              <a:buChar char="•"/>
            </a:pPr>
            <a:endParaRPr lang="en-US" altLang="ko-KR" sz="1500" dirty="0">
              <a:latin typeface="+mn-ea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1500" dirty="0" smtClean="0">
                <a:latin typeface="+mn-ea"/>
              </a:rPr>
              <a:t> </a:t>
            </a:r>
            <a:r>
              <a:rPr lang="ko-KR" altLang="en-US" sz="1500" dirty="0" smtClean="0">
                <a:latin typeface="+mn-ea"/>
              </a:rPr>
              <a:t>본인은 </a:t>
            </a:r>
            <a:r>
              <a:rPr lang="en-US" altLang="ko-KR" sz="1500" dirty="0" smtClean="0">
                <a:latin typeface="+mn-ea"/>
              </a:rPr>
              <a:t>KNOX </a:t>
            </a:r>
            <a:r>
              <a:rPr lang="ko-KR" altLang="en-US" sz="1500" dirty="0" smtClean="0">
                <a:latin typeface="+mn-ea"/>
              </a:rPr>
              <a:t>플랫폼을 활용하여 개인모드와 보안모드로 나누어 사용자에게 활용공간을 제공해 주는 </a:t>
            </a:r>
            <a:r>
              <a:rPr lang="en-US" altLang="ko-KR" sz="1500" dirty="0" smtClean="0">
                <a:latin typeface="+mn-ea"/>
              </a:rPr>
              <a:t>KNOX Container </a:t>
            </a:r>
            <a:r>
              <a:rPr lang="ko-KR" altLang="en-US" sz="1500" dirty="0" smtClean="0">
                <a:latin typeface="+mn-ea"/>
              </a:rPr>
              <a:t>의 </a:t>
            </a:r>
            <a:r>
              <a:rPr lang="en-US" altLang="ko-KR" sz="1500" dirty="0" smtClean="0">
                <a:latin typeface="+mn-ea"/>
              </a:rPr>
              <a:t>UI/UX</a:t>
            </a:r>
            <a:r>
              <a:rPr lang="ko-KR" altLang="en-US" sz="1500" dirty="0" smtClean="0">
                <a:latin typeface="+mn-ea"/>
              </a:rPr>
              <a:t>를</a:t>
            </a:r>
            <a:r>
              <a:rPr lang="en-US" altLang="ko-KR" sz="1500" dirty="0" smtClean="0">
                <a:latin typeface="+mn-ea"/>
              </a:rPr>
              <a:t>(</a:t>
            </a:r>
            <a:r>
              <a:rPr lang="ko-KR" altLang="en-US" sz="1500" dirty="0" smtClean="0">
                <a:latin typeface="+mn-ea"/>
              </a:rPr>
              <a:t>설치</a:t>
            </a:r>
            <a:r>
              <a:rPr lang="en-US" altLang="ko-KR" sz="1500" dirty="0" smtClean="0">
                <a:latin typeface="+mn-ea"/>
              </a:rPr>
              <a:t>, </a:t>
            </a:r>
            <a:r>
              <a:rPr lang="ko-KR" altLang="en-US" sz="1500" dirty="0" smtClean="0">
                <a:latin typeface="+mn-ea"/>
              </a:rPr>
              <a:t>설정</a:t>
            </a:r>
            <a:r>
              <a:rPr lang="en-US" altLang="ko-KR" sz="1500" dirty="0" smtClean="0">
                <a:latin typeface="+mn-ea"/>
              </a:rPr>
              <a:t>, </a:t>
            </a:r>
            <a:r>
              <a:rPr lang="ko-KR" altLang="en-US" sz="1500" dirty="0" smtClean="0">
                <a:latin typeface="+mn-ea"/>
              </a:rPr>
              <a:t>잠금화면 및 생체인증 기능</a:t>
            </a:r>
            <a:r>
              <a:rPr lang="en-US" altLang="ko-KR" sz="1500" dirty="0" smtClean="0">
                <a:latin typeface="+mn-ea"/>
              </a:rPr>
              <a:t>)</a:t>
            </a:r>
            <a:r>
              <a:rPr lang="ko-KR" altLang="en-US" sz="1500" dirty="0" smtClean="0">
                <a:latin typeface="+mn-ea"/>
              </a:rPr>
              <a:t> </a:t>
            </a:r>
            <a:r>
              <a:rPr lang="en-US" altLang="ko-KR" sz="1500" dirty="0" smtClean="0">
                <a:latin typeface="+mn-ea"/>
              </a:rPr>
              <a:t>Android Framework </a:t>
            </a:r>
            <a:r>
              <a:rPr lang="ko-KR" altLang="en-US" sz="1500" dirty="0" smtClean="0">
                <a:latin typeface="+mn-ea"/>
              </a:rPr>
              <a:t>와 </a:t>
            </a:r>
            <a:r>
              <a:rPr lang="en-US" altLang="ko-KR" sz="1500" dirty="0" smtClean="0">
                <a:latin typeface="+mn-ea"/>
              </a:rPr>
              <a:t>App</a:t>
            </a:r>
            <a:r>
              <a:rPr lang="ko-KR" altLang="en-US" sz="1500" dirty="0" smtClean="0">
                <a:latin typeface="+mn-ea"/>
              </a:rPr>
              <a:t> 개발로 구현하였습니다</a:t>
            </a:r>
            <a:r>
              <a:rPr lang="en-US" altLang="ko-KR" sz="1500" dirty="0" smtClean="0">
                <a:latin typeface="+mn-ea"/>
              </a:rPr>
              <a:t>.</a:t>
            </a:r>
          </a:p>
          <a:p>
            <a:pPr>
              <a:buFont typeface="Arial" pitchFamily="34" charset="0"/>
              <a:buChar char="•"/>
            </a:pPr>
            <a:endParaRPr lang="en-US" altLang="ko-KR" sz="1500" dirty="0">
              <a:latin typeface="+mn-ea"/>
            </a:endParaRPr>
          </a:p>
        </p:txBody>
      </p:sp>
      <p:pic>
        <p:nvPicPr>
          <p:cNvPr id="5124" name="Picture 4" descr="KNOX CONTAINERì ëí ì´ë¯¸ì§ ê²ìê²°ê³¼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3238" y="1772816"/>
            <a:ext cx="4097194" cy="2124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9"/>
          <p:cNvSpPr/>
          <p:nvPr/>
        </p:nvSpPr>
        <p:spPr>
          <a:xfrm>
            <a:off x="251520" y="1268760"/>
            <a:ext cx="8352928" cy="5256584"/>
          </a:xfrm>
          <a:prstGeom prst="roundRect">
            <a:avLst>
              <a:gd name="adj" fmla="val 5496"/>
            </a:avLst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제목 3"/>
          <p:cNvSpPr txBox="1">
            <a:spLocks/>
          </p:cNvSpPr>
          <p:nvPr/>
        </p:nvSpPr>
        <p:spPr>
          <a:xfrm>
            <a:off x="3059832" y="1028511"/>
            <a:ext cx="2664296" cy="384265"/>
          </a:xfrm>
          <a:prstGeom prst="roundRect">
            <a:avLst>
              <a:gd name="adj" fmla="val 1945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kumimoji="0" lang="en-US" altLang="ko-KR" b="1" dirty="0" smtClean="0">
                <a:solidFill>
                  <a:schemeClr val="bg1"/>
                </a:solidFill>
                <a:latin typeface="Mongolian Baiti" pitchFamily="66" charset="0"/>
                <a:ea typeface="+mj-ea"/>
                <a:cs typeface="Mongolian Baiti" pitchFamily="66" charset="0"/>
              </a:rPr>
              <a:t>Samsung Pass</a:t>
            </a:r>
            <a:endParaRPr kumimoji="0" lang="ko-KR" altLang="en-US" b="1" dirty="0">
              <a:solidFill>
                <a:schemeClr val="bg1"/>
              </a:solidFill>
              <a:latin typeface="Mongolian Baiti" pitchFamily="66" charset="0"/>
              <a:ea typeface="+mj-ea"/>
              <a:cs typeface="Mongolian Baiti" pitchFamily="66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3528" y="4124687"/>
            <a:ext cx="813690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500" dirty="0" smtClean="0">
                <a:latin typeface="+mn-ea"/>
              </a:rPr>
              <a:t> Samsung Pass</a:t>
            </a:r>
            <a:r>
              <a:rPr lang="ko-KR" altLang="en-US" sz="1500" dirty="0" smtClean="0">
                <a:latin typeface="+mn-ea"/>
              </a:rPr>
              <a:t>는 홍채</a:t>
            </a:r>
            <a:r>
              <a:rPr lang="en-US" altLang="ko-KR" sz="1500" dirty="0" smtClean="0">
                <a:latin typeface="+mn-ea"/>
              </a:rPr>
              <a:t>, </a:t>
            </a:r>
            <a:r>
              <a:rPr lang="ko-KR" altLang="en-US" sz="1500" dirty="0" smtClean="0">
                <a:latin typeface="+mn-ea"/>
              </a:rPr>
              <a:t>지문</a:t>
            </a:r>
            <a:r>
              <a:rPr lang="en-US" altLang="ko-KR" sz="1500" dirty="0">
                <a:latin typeface="+mn-ea"/>
              </a:rPr>
              <a:t> </a:t>
            </a:r>
            <a:r>
              <a:rPr lang="ko-KR" altLang="en-US" sz="1500" dirty="0" smtClean="0">
                <a:latin typeface="+mn-ea"/>
              </a:rPr>
              <a:t>등의 생체 인식이 가능한 삼성전자 모바일 단말을 활용하여 보다 안전하고 손쉽게 인증 방식을 제공하는 삼성전자의 서비스입니다</a:t>
            </a:r>
            <a:r>
              <a:rPr lang="en-US" altLang="ko-KR" sz="1500" dirty="0" smtClean="0">
                <a:latin typeface="+mn-ea"/>
              </a:rPr>
              <a:t>. </a:t>
            </a:r>
            <a:endParaRPr lang="en-US" altLang="ko-KR" sz="1500" dirty="0">
              <a:latin typeface="+mn-ea"/>
            </a:endParaRPr>
          </a:p>
          <a:p>
            <a:pPr>
              <a:buFont typeface="Arial" pitchFamily="34" charset="0"/>
              <a:buChar char="•"/>
            </a:pPr>
            <a:endParaRPr lang="en-US" altLang="ko-KR" sz="1500" dirty="0" smtClean="0">
              <a:latin typeface="+mn-ea"/>
            </a:endParaRPr>
          </a:p>
          <a:p>
            <a:pPr>
              <a:buFont typeface="Arial" pitchFamily="34" charset="0"/>
              <a:buChar char="•"/>
            </a:pPr>
            <a:r>
              <a:rPr lang="ko-KR" altLang="en-US" sz="1500" dirty="0" smtClean="0">
                <a:latin typeface="+mn-ea"/>
              </a:rPr>
              <a:t> 금융</a:t>
            </a:r>
            <a:r>
              <a:rPr lang="en-US" altLang="ko-KR" sz="1500" dirty="0" smtClean="0">
                <a:latin typeface="+mn-ea"/>
              </a:rPr>
              <a:t>, </a:t>
            </a:r>
            <a:r>
              <a:rPr lang="ko-KR" altLang="en-US" sz="1500" dirty="0" smtClean="0">
                <a:latin typeface="+mn-ea"/>
              </a:rPr>
              <a:t>병원</a:t>
            </a:r>
            <a:r>
              <a:rPr lang="en-US" altLang="ko-KR" sz="1500" dirty="0" smtClean="0">
                <a:latin typeface="+mn-ea"/>
              </a:rPr>
              <a:t>, </a:t>
            </a:r>
            <a:r>
              <a:rPr lang="ko-KR" altLang="en-US" sz="1500" dirty="0" smtClean="0">
                <a:latin typeface="+mn-ea"/>
              </a:rPr>
              <a:t>쇼핑 등 국내 </a:t>
            </a:r>
            <a:r>
              <a:rPr lang="en-US" altLang="ko-KR" sz="1500" dirty="0" smtClean="0">
                <a:latin typeface="+mn-ea"/>
              </a:rPr>
              <a:t>40</a:t>
            </a:r>
            <a:r>
              <a:rPr lang="ko-KR" altLang="en-US" sz="1500" dirty="0" smtClean="0">
                <a:latin typeface="+mn-ea"/>
              </a:rPr>
              <a:t>여개 파트너 및 추가 해외 파트너들에게까지 삼성패스를 활용하여 인증을 수행하고 있습니다</a:t>
            </a:r>
            <a:r>
              <a:rPr lang="en-US" altLang="ko-KR" sz="1500" dirty="0" smtClean="0">
                <a:latin typeface="+mn-ea"/>
              </a:rPr>
              <a:t>.</a:t>
            </a:r>
          </a:p>
          <a:p>
            <a:pPr>
              <a:buFont typeface="Arial" pitchFamily="34" charset="0"/>
              <a:buChar char="•"/>
            </a:pPr>
            <a:endParaRPr lang="en-US" altLang="ko-KR" sz="1500" dirty="0" smtClean="0">
              <a:latin typeface="+mn-ea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1500" dirty="0">
                <a:latin typeface="+mn-ea"/>
              </a:rPr>
              <a:t> </a:t>
            </a:r>
            <a:r>
              <a:rPr lang="ko-KR" altLang="en-US" sz="1500" dirty="0" smtClean="0">
                <a:latin typeface="+mn-ea"/>
              </a:rPr>
              <a:t>중요한 인증값은 </a:t>
            </a:r>
            <a:r>
              <a:rPr lang="en-US" altLang="ko-KR" sz="1500" dirty="0" smtClean="0">
                <a:latin typeface="+mn-ea"/>
              </a:rPr>
              <a:t>KNOX</a:t>
            </a:r>
            <a:r>
              <a:rPr lang="ko-KR" altLang="en-US" sz="1500" dirty="0" smtClean="0">
                <a:latin typeface="+mn-ea"/>
              </a:rPr>
              <a:t>로 보호되고 있고</a:t>
            </a:r>
            <a:r>
              <a:rPr lang="en-US" altLang="ko-KR" sz="1500" dirty="0" smtClean="0">
                <a:latin typeface="+mn-ea"/>
              </a:rPr>
              <a:t>, FIDO</a:t>
            </a:r>
            <a:r>
              <a:rPr lang="ko-KR" altLang="en-US" sz="1500" dirty="0" smtClean="0">
                <a:latin typeface="+mn-ea"/>
              </a:rPr>
              <a:t>기술로 본인을 식별하도록 설계되었습니다</a:t>
            </a:r>
            <a:r>
              <a:rPr lang="en-US" altLang="ko-KR" sz="1500" dirty="0" smtClean="0">
                <a:latin typeface="+mn-ea"/>
              </a:rPr>
              <a:t>.</a:t>
            </a:r>
          </a:p>
          <a:p>
            <a:pPr>
              <a:buFont typeface="Arial" pitchFamily="34" charset="0"/>
              <a:buChar char="•"/>
            </a:pPr>
            <a:endParaRPr lang="en-US" altLang="ko-KR" sz="1500" dirty="0">
              <a:latin typeface="+mn-ea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1500" dirty="0" smtClean="0">
                <a:latin typeface="+mn-ea"/>
              </a:rPr>
              <a:t> </a:t>
            </a:r>
            <a:r>
              <a:rPr lang="ko-KR" altLang="en-US" sz="1500" dirty="0" smtClean="0">
                <a:latin typeface="+mn-ea"/>
              </a:rPr>
              <a:t>본인은 백엔드 서버 중에서 </a:t>
            </a:r>
            <a:r>
              <a:rPr lang="en-US" altLang="ko-KR" sz="1500" dirty="0" smtClean="0">
                <a:latin typeface="+mn-ea"/>
              </a:rPr>
              <a:t>Spring</a:t>
            </a:r>
            <a:r>
              <a:rPr lang="ko-KR" altLang="en-US" sz="1500" dirty="0" smtClean="0">
                <a:latin typeface="+mn-ea"/>
              </a:rPr>
              <a:t>을 활용하여 </a:t>
            </a:r>
            <a:r>
              <a:rPr lang="en-US" altLang="ko-KR" sz="1500" dirty="0" smtClean="0">
                <a:latin typeface="+mn-ea"/>
              </a:rPr>
              <a:t>REST API </a:t>
            </a:r>
            <a:r>
              <a:rPr lang="ko-KR" altLang="en-US" sz="1500" dirty="0" smtClean="0">
                <a:latin typeface="+mn-ea"/>
              </a:rPr>
              <a:t>및 </a:t>
            </a:r>
            <a:r>
              <a:rPr lang="en-US" altLang="ko-KR" sz="1500" dirty="0" smtClean="0">
                <a:latin typeface="+mn-ea"/>
              </a:rPr>
              <a:t>API Gateway </a:t>
            </a:r>
            <a:r>
              <a:rPr lang="ko-KR" altLang="en-US" sz="1500" dirty="0" smtClean="0">
                <a:latin typeface="+mn-ea"/>
              </a:rPr>
              <a:t>모듈을 개발하였고</a:t>
            </a:r>
            <a:r>
              <a:rPr lang="en-US" altLang="ko-KR" sz="1500" dirty="0" smtClean="0">
                <a:latin typeface="+mn-ea"/>
              </a:rPr>
              <a:t>, </a:t>
            </a:r>
            <a:r>
              <a:rPr lang="en-US" altLang="ko-KR" sz="1500" dirty="0" err="1" smtClean="0">
                <a:latin typeface="+mn-ea"/>
              </a:rPr>
              <a:t>mysql</a:t>
            </a:r>
            <a:r>
              <a:rPr lang="en-US" altLang="ko-KR" sz="1500" dirty="0" smtClean="0">
                <a:latin typeface="+mn-ea"/>
              </a:rPr>
              <a:t> </a:t>
            </a:r>
            <a:r>
              <a:rPr lang="ko-KR" altLang="en-US" sz="1500" dirty="0" smtClean="0">
                <a:latin typeface="+mn-ea"/>
              </a:rPr>
              <a:t>활용한 파트너별 인증건수</a:t>
            </a:r>
            <a:r>
              <a:rPr lang="en-US" altLang="ko-KR" sz="1500" dirty="0" smtClean="0">
                <a:latin typeface="+mn-ea"/>
              </a:rPr>
              <a:t>, MAU </a:t>
            </a:r>
            <a:r>
              <a:rPr lang="ko-KR" altLang="en-US" sz="1500" dirty="0" smtClean="0">
                <a:latin typeface="+mn-ea"/>
              </a:rPr>
              <a:t>등 서비스 사용통계 보고서를 작성하였습니다</a:t>
            </a:r>
            <a:r>
              <a:rPr lang="en-US" altLang="ko-KR" sz="1500" dirty="0" smtClean="0">
                <a:latin typeface="+mn-ea"/>
              </a:rPr>
              <a:t>.</a:t>
            </a:r>
            <a:r>
              <a:rPr lang="ko-KR" altLang="en-US" sz="1500" dirty="0" smtClean="0">
                <a:latin typeface="+mn-ea"/>
              </a:rPr>
              <a:t> </a:t>
            </a:r>
            <a:endParaRPr lang="en-US" altLang="ko-KR" sz="1500" dirty="0">
              <a:latin typeface="+mn-ea"/>
            </a:endParaRPr>
          </a:p>
        </p:txBody>
      </p:sp>
      <p:pic>
        <p:nvPicPr>
          <p:cNvPr id="6" name="Picture 2" descr="ì¼ì± í¨ì¤ì ëí ì´ë¯¸ì§ ê²ìê²°ê³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688692"/>
            <a:ext cx="3068004" cy="234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https://1nmqmp2u9dgf3jo9centu6rq-wpengine.netdna-ssl.com/wp-content/uploads/Nav_FIDO-Certifie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2224852"/>
            <a:ext cx="2244030" cy="1275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4580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9"/>
          <p:cNvSpPr/>
          <p:nvPr/>
        </p:nvSpPr>
        <p:spPr>
          <a:xfrm>
            <a:off x="251520" y="1268760"/>
            <a:ext cx="8352928" cy="5256584"/>
          </a:xfrm>
          <a:prstGeom prst="roundRect">
            <a:avLst>
              <a:gd name="adj" fmla="val 5496"/>
            </a:avLst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제목 3"/>
          <p:cNvSpPr txBox="1">
            <a:spLocks/>
          </p:cNvSpPr>
          <p:nvPr/>
        </p:nvSpPr>
        <p:spPr>
          <a:xfrm>
            <a:off x="3059832" y="1028511"/>
            <a:ext cx="2664296" cy="384265"/>
          </a:xfrm>
          <a:prstGeom prst="roundRect">
            <a:avLst>
              <a:gd name="adj" fmla="val 1945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kumimoji="0" lang="en-US" altLang="ko-KR" b="1" dirty="0" smtClean="0">
                <a:solidFill>
                  <a:schemeClr val="bg1"/>
                </a:solidFill>
                <a:latin typeface="Mongolian Baiti" pitchFamily="66" charset="0"/>
                <a:ea typeface="+mj-ea"/>
                <a:cs typeface="Mongolian Baiti" pitchFamily="66" charset="0"/>
              </a:rPr>
              <a:t>Samsung Developer Eco.</a:t>
            </a:r>
            <a:endParaRPr kumimoji="0" lang="ko-KR" altLang="en-US" b="1" dirty="0">
              <a:solidFill>
                <a:schemeClr val="bg1"/>
              </a:solidFill>
              <a:latin typeface="Mongolian Baiti" pitchFamily="66" charset="0"/>
              <a:ea typeface="+mj-ea"/>
              <a:cs typeface="Mongolian Baiti" pitchFamily="66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3528" y="4444370"/>
            <a:ext cx="81369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500" dirty="0" smtClean="0">
                <a:latin typeface="+mn-ea"/>
              </a:rPr>
              <a:t> </a:t>
            </a:r>
            <a:r>
              <a:rPr lang="ko-KR" altLang="en-US" sz="1500" dirty="0" smtClean="0">
                <a:latin typeface="+mn-ea"/>
              </a:rPr>
              <a:t>삼성전자에서 삼성단말을 활용한 서비스 개발 생태계 확대를 위해</a:t>
            </a:r>
            <a:r>
              <a:rPr lang="en-US" altLang="ko-KR" sz="1500" dirty="0" smtClean="0">
                <a:latin typeface="+mn-ea"/>
              </a:rPr>
              <a:t>, </a:t>
            </a:r>
            <a:r>
              <a:rPr lang="ko-KR" altLang="en-US" sz="1500" dirty="0" smtClean="0">
                <a:latin typeface="+mn-ea"/>
              </a:rPr>
              <a:t>개발자들의 참여를 독려하기 위해 마케팅 활동 및 지원 활동을 펼쳤습니다</a:t>
            </a:r>
            <a:r>
              <a:rPr lang="en-US" altLang="ko-KR" sz="1500" dirty="0" smtClean="0">
                <a:latin typeface="+mn-ea"/>
              </a:rPr>
              <a:t>.</a:t>
            </a:r>
          </a:p>
          <a:p>
            <a:pPr>
              <a:buFont typeface="Arial" pitchFamily="34" charset="0"/>
              <a:buChar char="•"/>
            </a:pPr>
            <a:endParaRPr lang="en-US" altLang="ko-KR" sz="1500" dirty="0" smtClean="0">
              <a:latin typeface="+mn-ea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1500" dirty="0" smtClean="0">
                <a:latin typeface="+mn-ea"/>
              </a:rPr>
              <a:t> Samsung Developer Portal </a:t>
            </a:r>
            <a:r>
              <a:rPr lang="ko-KR" altLang="en-US" sz="1500" dirty="0" smtClean="0">
                <a:latin typeface="+mn-ea"/>
              </a:rPr>
              <a:t>에서는 개발자들이 삼성 </a:t>
            </a:r>
            <a:r>
              <a:rPr lang="en-US" altLang="ko-KR" sz="1500" dirty="0" smtClean="0">
                <a:latin typeface="+mn-ea"/>
              </a:rPr>
              <a:t>SDK, API </a:t>
            </a:r>
            <a:r>
              <a:rPr lang="ko-KR" altLang="en-US" sz="1500" dirty="0" smtClean="0">
                <a:latin typeface="+mn-ea"/>
              </a:rPr>
              <a:t>를 사용하여 개발을 할 수 있도록 지원하는 페이지인데</a:t>
            </a:r>
            <a:r>
              <a:rPr lang="en-US" altLang="ko-KR" sz="1500" dirty="0" smtClean="0">
                <a:latin typeface="+mn-ea"/>
              </a:rPr>
              <a:t>, </a:t>
            </a:r>
            <a:r>
              <a:rPr lang="ko-KR" altLang="en-US" sz="1500" dirty="0" smtClean="0">
                <a:latin typeface="+mn-ea"/>
              </a:rPr>
              <a:t>본인이 이를 운영 관리하였습니다</a:t>
            </a:r>
            <a:r>
              <a:rPr lang="en-US" altLang="ko-KR" sz="1500" dirty="0" smtClean="0">
                <a:latin typeface="+mn-ea"/>
              </a:rPr>
              <a:t>.</a:t>
            </a:r>
          </a:p>
          <a:p>
            <a:pPr>
              <a:buFont typeface="Arial" pitchFamily="34" charset="0"/>
              <a:buChar char="•"/>
            </a:pPr>
            <a:endParaRPr lang="en-US" altLang="ko-KR" sz="1500" dirty="0">
              <a:latin typeface="+mn-ea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1500" dirty="0" smtClean="0">
                <a:latin typeface="+mn-ea"/>
              </a:rPr>
              <a:t> Samsung Developer Conference </a:t>
            </a:r>
            <a:r>
              <a:rPr lang="ko-KR" altLang="en-US" sz="1500" dirty="0" smtClean="0">
                <a:latin typeface="+mn-ea"/>
              </a:rPr>
              <a:t>는 구글 </a:t>
            </a:r>
            <a:r>
              <a:rPr lang="en-US" altLang="ko-KR" sz="1500" dirty="0" smtClean="0">
                <a:latin typeface="+mn-ea"/>
              </a:rPr>
              <a:t>I/O, </a:t>
            </a:r>
            <a:r>
              <a:rPr lang="ko-KR" altLang="en-US" sz="1500" dirty="0" smtClean="0">
                <a:latin typeface="+mn-ea"/>
              </a:rPr>
              <a:t>아마존 </a:t>
            </a:r>
            <a:r>
              <a:rPr lang="en-US" altLang="ko-KR" sz="1500" dirty="0">
                <a:latin typeface="+mn-ea"/>
              </a:rPr>
              <a:t>S</a:t>
            </a:r>
            <a:r>
              <a:rPr lang="en-US" altLang="ko-KR" sz="1500" dirty="0" smtClean="0">
                <a:latin typeface="+mn-ea"/>
              </a:rPr>
              <a:t>ummit, </a:t>
            </a:r>
            <a:r>
              <a:rPr lang="ko-KR" altLang="en-US" sz="1500" dirty="0" smtClean="0">
                <a:latin typeface="+mn-ea"/>
              </a:rPr>
              <a:t>마이크로소프트 </a:t>
            </a:r>
            <a:r>
              <a:rPr lang="en-US" altLang="ko-KR" sz="1500" dirty="0">
                <a:latin typeface="+mn-ea"/>
              </a:rPr>
              <a:t>B</a:t>
            </a:r>
            <a:r>
              <a:rPr lang="en-US" altLang="ko-KR" sz="1500" dirty="0" smtClean="0">
                <a:latin typeface="+mn-ea"/>
              </a:rPr>
              <a:t>uild</a:t>
            </a:r>
            <a:r>
              <a:rPr lang="ko-KR" altLang="en-US" sz="1500" dirty="0" smtClean="0">
                <a:latin typeface="+mn-ea"/>
              </a:rPr>
              <a:t> 같은 개발자들의 참여를 독려하는 행사인데</a:t>
            </a:r>
            <a:r>
              <a:rPr lang="en-US" altLang="ko-KR" sz="1500" dirty="0" smtClean="0">
                <a:latin typeface="+mn-ea"/>
              </a:rPr>
              <a:t>, </a:t>
            </a:r>
            <a:r>
              <a:rPr lang="ko-KR" altLang="en-US" sz="1500" dirty="0" smtClean="0">
                <a:latin typeface="+mn-ea"/>
              </a:rPr>
              <a:t>본인이 행사 컨텐츠 정리 및 기획에 일조하였습니다</a:t>
            </a:r>
            <a:r>
              <a:rPr lang="en-US" altLang="ko-KR" sz="1500" dirty="0" smtClean="0">
                <a:latin typeface="+mn-ea"/>
              </a:rPr>
              <a:t>.</a:t>
            </a:r>
            <a:endParaRPr lang="en-US" altLang="ko-KR" sz="1500" dirty="0">
              <a:latin typeface="+mn-ea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392" y="1580142"/>
            <a:ext cx="3823446" cy="2422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2" name="Picture 2" descr="Code La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716" y="1661520"/>
            <a:ext cx="3896716" cy="2235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760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9"/>
          <p:cNvSpPr/>
          <p:nvPr/>
        </p:nvSpPr>
        <p:spPr>
          <a:xfrm>
            <a:off x="251520" y="1268760"/>
            <a:ext cx="8352928" cy="5256584"/>
          </a:xfrm>
          <a:prstGeom prst="roundRect">
            <a:avLst>
              <a:gd name="adj" fmla="val 5496"/>
            </a:avLst>
          </a:prstGeom>
          <a:ln w="12700"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제목 3"/>
          <p:cNvSpPr txBox="1">
            <a:spLocks/>
          </p:cNvSpPr>
          <p:nvPr/>
        </p:nvSpPr>
        <p:spPr>
          <a:xfrm>
            <a:off x="3059832" y="1028511"/>
            <a:ext cx="2664296" cy="384265"/>
          </a:xfrm>
          <a:prstGeom prst="roundRect">
            <a:avLst>
              <a:gd name="adj" fmla="val 19456"/>
            </a:avLst>
          </a:prstGeom>
          <a:solidFill>
            <a:schemeClr val="accent3"/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kumimoji="0" lang="ko-KR" altLang="en-US" b="1" dirty="0" smtClean="0">
                <a:solidFill>
                  <a:schemeClr val="bg1"/>
                </a:solidFill>
                <a:latin typeface="Mongolian Baiti" pitchFamily="66" charset="0"/>
                <a:ea typeface="+mj-ea"/>
                <a:cs typeface="Mongolian Baiti" pitchFamily="66" charset="0"/>
              </a:rPr>
              <a:t>한국주택금융공사 경력</a:t>
            </a:r>
            <a:endParaRPr kumimoji="0" lang="ko-KR" altLang="en-US" b="1" dirty="0">
              <a:solidFill>
                <a:schemeClr val="bg1"/>
              </a:solidFill>
              <a:latin typeface="Mongolian Baiti" pitchFamily="66" charset="0"/>
              <a:ea typeface="+mj-ea"/>
              <a:cs typeface="Mongolian Baiti" pitchFamily="66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3568" y="3102060"/>
            <a:ext cx="2664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  <a:ea typeface="+mn-ea"/>
              </a:rPr>
              <a:t>ICT </a:t>
            </a:r>
            <a:r>
              <a:rPr lang="ko-KR" altLang="en-US" sz="1600" b="1" dirty="0" smtClean="0">
                <a:latin typeface="+mn-ea"/>
                <a:ea typeface="+mn-ea"/>
              </a:rPr>
              <a:t>전략부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3568" y="4232702"/>
            <a:ext cx="2664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  <a:ea typeface="+mn-ea"/>
              </a:rPr>
              <a:t>ICT </a:t>
            </a:r>
            <a:r>
              <a:rPr lang="ko-KR" altLang="en-US" sz="1600" b="1" dirty="0" smtClean="0">
                <a:latin typeface="+mn-ea"/>
                <a:ea typeface="+mn-ea"/>
              </a:rPr>
              <a:t>운영부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3568" y="2010326"/>
            <a:ext cx="7416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latin typeface="+mn-ea"/>
                <a:ea typeface="+mn-ea"/>
              </a:rPr>
              <a:t> </a:t>
            </a:r>
            <a:r>
              <a:rPr lang="en-US" altLang="ko-KR" sz="1600" b="1" dirty="0" smtClean="0">
                <a:latin typeface="+mn-ea"/>
                <a:ea typeface="+mn-ea"/>
              </a:rPr>
              <a:t>- </a:t>
            </a:r>
            <a:r>
              <a:rPr lang="ko-KR" altLang="en-US" sz="1600" b="1" dirty="0" smtClean="0">
                <a:latin typeface="+mn-ea"/>
                <a:ea typeface="+mn-ea"/>
              </a:rPr>
              <a:t>총 </a:t>
            </a:r>
            <a:r>
              <a:rPr lang="en-US" altLang="ko-KR" sz="1600" b="1" dirty="0" smtClean="0">
                <a:latin typeface="+mn-ea"/>
                <a:ea typeface="+mn-ea"/>
              </a:rPr>
              <a:t>1</a:t>
            </a:r>
            <a:r>
              <a:rPr lang="ko-KR" altLang="en-US" sz="1600" b="1" dirty="0" smtClean="0">
                <a:latin typeface="+mn-ea"/>
                <a:ea typeface="+mn-ea"/>
              </a:rPr>
              <a:t>년 가량 근무 </a:t>
            </a:r>
            <a:r>
              <a:rPr lang="en-US" altLang="ko-KR" sz="1600" b="1" dirty="0" smtClean="0">
                <a:latin typeface="+mn-ea"/>
                <a:ea typeface="+mn-ea"/>
              </a:rPr>
              <a:t>(2018.06.30 ~ 2019.06.17)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71800" y="4300354"/>
            <a:ext cx="58326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sz="1500" dirty="0" smtClean="0">
                <a:latin typeface="+mn-ea"/>
                <a:ea typeface="+mn-ea"/>
              </a:rPr>
              <a:t> 경영지원전산팀 </a:t>
            </a:r>
            <a:r>
              <a:rPr lang="en-US" altLang="ko-KR" sz="1500" dirty="0" smtClean="0">
                <a:latin typeface="+mn-ea"/>
                <a:ea typeface="+mn-ea"/>
              </a:rPr>
              <a:t>(2018.11.16 ~ 2019.06.17)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500" dirty="0" smtClean="0">
                <a:latin typeface="+mn-ea"/>
                <a:ea typeface="+mn-ea"/>
              </a:rPr>
              <a:t> </a:t>
            </a:r>
            <a:r>
              <a:rPr lang="ko-KR" altLang="en-US" sz="1500" dirty="0" smtClean="0">
                <a:latin typeface="+mn-ea"/>
                <a:ea typeface="+mn-ea"/>
              </a:rPr>
              <a:t>공사 모바일 서비스 수정개</a:t>
            </a:r>
            <a:r>
              <a:rPr lang="ko-KR" altLang="en-US" sz="1500" dirty="0">
                <a:latin typeface="+mn-ea"/>
                <a:ea typeface="+mn-ea"/>
              </a:rPr>
              <a:t>발</a:t>
            </a:r>
            <a:r>
              <a:rPr lang="en-US" altLang="ko-KR" sz="1500" dirty="0" smtClean="0">
                <a:latin typeface="+mn-ea"/>
                <a:ea typeface="+mn-ea"/>
              </a:rPr>
              <a:t>, </a:t>
            </a:r>
            <a:r>
              <a:rPr lang="ko-KR" altLang="en-US" sz="1500" dirty="0" smtClean="0">
                <a:latin typeface="+mn-ea"/>
                <a:ea typeface="+mn-ea"/>
              </a:rPr>
              <a:t>운영 업무 수행</a:t>
            </a:r>
            <a:endParaRPr lang="en-US" altLang="ko-KR" sz="1500" dirty="0" smtClean="0">
              <a:latin typeface="+mn-ea"/>
              <a:ea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71800" y="3080574"/>
            <a:ext cx="58326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sz="1500" dirty="0" smtClean="0">
                <a:latin typeface="+mn-ea"/>
                <a:ea typeface="+mn-ea"/>
              </a:rPr>
              <a:t> 사이버안전팀 </a:t>
            </a:r>
            <a:r>
              <a:rPr lang="en-US" altLang="ko-KR" sz="1500" dirty="0" smtClean="0">
                <a:latin typeface="+mn-ea"/>
                <a:ea typeface="+mn-ea"/>
              </a:rPr>
              <a:t>(2018.06.30 ~ 2018.11.15)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500" dirty="0" smtClean="0">
                <a:latin typeface="+mn-ea"/>
                <a:ea typeface="+mn-ea"/>
              </a:rPr>
              <a:t> </a:t>
            </a:r>
            <a:r>
              <a:rPr lang="ko-KR" altLang="en-US" sz="1500" dirty="0" smtClean="0">
                <a:latin typeface="+mn-ea"/>
                <a:ea typeface="+mn-ea"/>
              </a:rPr>
              <a:t>연수 </a:t>
            </a:r>
            <a:r>
              <a:rPr lang="en-US" altLang="ko-KR" sz="1500" dirty="0" smtClean="0">
                <a:latin typeface="+mn-ea"/>
                <a:ea typeface="+mn-ea"/>
              </a:rPr>
              <a:t>3</a:t>
            </a:r>
            <a:r>
              <a:rPr lang="ko-KR" altLang="en-US" sz="1500" dirty="0" smtClean="0">
                <a:latin typeface="+mn-ea"/>
                <a:ea typeface="+mn-ea"/>
              </a:rPr>
              <a:t>주 후 배치받아</a:t>
            </a:r>
            <a:r>
              <a:rPr lang="en-US" altLang="ko-KR" sz="1500" dirty="0" smtClean="0">
                <a:latin typeface="+mn-ea"/>
                <a:ea typeface="+mn-ea"/>
              </a:rPr>
              <a:t>, </a:t>
            </a:r>
            <a:r>
              <a:rPr lang="ko-KR" altLang="en-US" sz="1500" dirty="0" smtClean="0">
                <a:latin typeface="+mn-ea"/>
                <a:ea typeface="+mn-ea"/>
              </a:rPr>
              <a:t>공사 정보보안 업무 수행</a:t>
            </a:r>
            <a:endParaRPr lang="en-US" altLang="ko-KR" sz="1500" dirty="0" smtClean="0">
              <a:latin typeface="+mn-ea"/>
              <a:ea typeface="+mn-ea"/>
            </a:endParaRPr>
          </a:p>
        </p:txBody>
      </p:sp>
      <p:pic>
        <p:nvPicPr>
          <p:cNvPr id="13314" name="Picture 2" descr="ì£¼íê¸ìµê³µì¬ ì¬ì´ë²ìì íì ëí ì´ë¯¸ì§ ê²ìê²°ê³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800" y="1556792"/>
            <a:ext cx="1662608" cy="1176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855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9"/>
          <p:cNvSpPr/>
          <p:nvPr/>
        </p:nvSpPr>
        <p:spPr>
          <a:xfrm>
            <a:off x="251520" y="1268760"/>
            <a:ext cx="8352928" cy="5256584"/>
          </a:xfrm>
          <a:prstGeom prst="roundRect">
            <a:avLst>
              <a:gd name="adj" fmla="val 5496"/>
            </a:avLst>
          </a:prstGeom>
          <a:ln w="12700"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제목 3"/>
          <p:cNvSpPr txBox="1">
            <a:spLocks/>
          </p:cNvSpPr>
          <p:nvPr/>
        </p:nvSpPr>
        <p:spPr>
          <a:xfrm>
            <a:off x="3059832" y="1028511"/>
            <a:ext cx="2664296" cy="384265"/>
          </a:xfrm>
          <a:prstGeom prst="roundRect">
            <a:avLst>
              <a:gd name="adj" fmla="val 19456"/>
            </a:avLst>
          </a:prstGeom>
          <a:solidFill>
            <a:schemeClr val="accent3"/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kumimoji="0" lang="ko-KR" altLang="en-US" b="1" dirty="0" smtClean="0">
                <a:solidFill>
                  <a:schemeClr val="bg1"/>
                </a:solidFill>
                <a:latin typeface="Mongolian Baiti" pitchFamily="66" charset="0"/>
                <a:ea typeface="+mj-ea"/>
                <a:cs typeface="Mongolian Baiti" pitchFamily="66" charset="0"/>
              </a:rPr>
              <a:t>정보보안 업무</a:t>
            </a:r>
            <a:endParaRPr kumimoji="0" lang="ko-KR" altLang="en-US" b="1" dirty="0">
              <a:solidFill>
                <a:schemeClr val="bg1"/>
              </a:solidFill>
              <a:latin typeface="Mongolian Baiti" pitchFamily="66" charset="0"/>
              <a:ea typeface="+mj-ea"/>
              <a:cs typeface="Mongolian Baiti" pitchFamily="66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3528" y="4444370"/>
            <a:ext cx="813690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500" dirty="0" smtClean="0">
                <a:latin typeface="+mn-ea"/>
              </a:rPr>
              <a:t> </a:t>
            </a:r>
            <a:r>
              <a:rPr lang="en-US" altLang="ko-KR" sz="1500" dirty="0" err="1">
                <a:latin typeface="+mn-lt"/>
              </a:rPr>
              <a:t>DDos</a:t>
            </a:r>
            <a:r>
              <a:rPr lang="ko-KR" altLang="ko-KR" sz="1500" dirty="0">
                <a:latin typeface="+mn-lt"/>
              </a:rPr>
              <a:t>대응훈련</a:t>
            </a:r>
            <a:r>
              <a:rPr lang="en-US" altLang="ko-KR" sz="1500" dirty="0">
                <a:latin typeface="+mn-lt"/>
              </a:rPr>
              <a:t>, APT</a:t>
            </a:r>
            <a:r>
              <a:rPr lang="ko-KR" altLang="ko-KR" sz="1500" dirty="0">
                <a:latin typeface="+mn-lt"/>
              </a:rPr>
              <a:t>대응훈련</a:t>
            </a:r>
            <a:r>
              <a:rPr lang="en-US" altLang="ko-KR" sz="1500" dirty="0">
                <a:latin typeface="+mn-lt"/>
              </a:rPr>
              <a:t>, </a:t>
            </a:r>
            <a:r>
              <a:rPr lang="ko-KR" altLang="ko-KR" sz="1500" dirty="0">
                <a:latin typeface="+mn-lt"/>
              </a:rPr>
              <a:t>해킹메일 대응훈련</a:t>
            </a:r>
            <a:r>
              <a:rPr lang="en-US" altLang="ko-KR" sz="1500" dirty="0">
                <a:latin typeface="+mn-lt"/>
              </a:rPr>
              <a:t>, </a:t>
            </a:r>
            <a:r>
              <a:rPr lang="ko-KR" altLang="ko-KR" sz="1500" dirty="0" smtClean="0">
                <a:latin typeface="+mn-lt"/>
              </a:rPr>
              <a:t>매체보안 </a:t>
            </a:r>
            <a:r>
              <a:rPr lang="ko-KR" altLang="ko-KR" sz="1500" dirty="0">
                <a:latin typeface="+mn-lt"/>
              </a:rPr>
              <a:t>및 보안솔루션 </a:t>
            </a:r>
            <a:r>
              <a:rPr lang="ko-KR" altLang="ko-KR" sz="1500" dirty="0" smtClean="0">
                <a:latin typeface="+mn-lt"/>
              </a:rPr>
              <a:t>관리</a:t>
            </a:r>
            <a:r>
              <a:rPr lang="en-US" altLang="ko-KR" sz="1500" dirty="0" smtClean="0">
                <a:latin typeface="+mn-lt"/>
              </a:rPr>
              <a:t>, </a:t>
            </a:r>
            <a:r>
              <a:rPr lang="ko-KR" altLang="en-US" sz="1500" dirty="0" smtClean="0">
                <a:latin typeface="+mn-lt"/>
              </a:rPr>
              <a:t>관제솔루션 사업추진</a:t>
            </a:r>
            <a:r>
              <a:rPr lang="en-US" altLang="ko-KR" sz="1500" dirty="0" smtClean="0">
                <a:latin typeface="+mn-lt"/>
              </a:rPr>
              <a:t>, </a:t>
            </a:r>
            <a:r>
              <a:rPr lang="ko-KR" altLang="en-US" sz="1500" dirty="0" smtClean="0">
                <a:latin typeface="+mn-lt"/>
              </a:rPr>
              <a:t>금융위</a:t>
            </a:r>
            <a:r>
              <a:rPr lang="en-US" altLang="ko-KR" sz="1500" dirty="0" smtClean="0">
                <a:latin typeface="+mn-lt"/>
              </a:rPr>
              <a:t>, </a:t>
            </a:r>
            <a:r>
              <a:rPr lang="ko-KR" altLang="en-US" sz="1500" dirty="0" smtClean="0">
                <a:latin typeface="+mn-lt"/>
              </a:rPr>
              <a:t>금융보안원 및 국정원과 협업 </a:t>
            </a:r>
            <a:r>
              <a:rPr lang="ko-KR" altLang="ko-KR" sz="1500" dirty="0" smtClean="0">
                <a:latin typeface="+mn-lt"/>
              </a:rPr>
              <a:t>등 </a:t>
            </a:r>
            <a:r>
              <a:rPr lang="ko-KR" altLang="ko-KR" sz="1500" dirty="0">
                <a:latin typeface="+mn-lt"/>
              </a:rPr>
              <a:t>정보보안 </a:t>
            </a:r>
            <a:r>
              <a:rPr lang="ko-KR" altLang="ko-KR" sz="1500" dirty="0" smtClean="0">
                <a:latin typeface="+mn-lt"/>
              </a:rPr>
              <a:t>업무</a:t>
            </a:r>
            <a:r>
              <a:rPr lang="en-US" altLang="ko-KR" sz="1500" dirty="0" smtClean="0">
                <a:latin typeface="+mn-lt"/>
              </a:rPr>
              <a:t> </a:t>
            </a:r>
            <a:r>
              <a:rPr lang="ko-KR" altLang="ko-KR" sz="1500" dirty="0" smtClean="0">
                <a:latin typeface="+mn-lt"/>
              </a:rPr>
              <a:t>전반</a:t>
            </a:r>
            <a:r>
              <a:rPr lang="ko-KR" altLang="en-US" sz="1500" dirty="0" smtClean="0">
                <a:latin typeface="+mn-lt"/>
              </a:rPr>
              <a:t>을</a:t>
            </a:r>
            <a:r>
              <a:rPr lang="en-US" altLang="ko-KR" sz="1500" dirty="0" smtClean="0">
                <a:latin typeface="+mn-lt"/>
              </a:rPr>
              <a:t> </a:t>
            </a:r>
            <a:r>
              <a:rPr lang="ko-KR" altLang="en-US" sz="1500" dirty="0" smtClean="0">
                <a:latin typeface="+mn-lt"/>
              </a:rPr>
              <a:t>수행하였습니다</a:t>
            </a:r>
            <a:r>
              <a:rPr lang="en-US" altLang="ko-KR" sz="1500" dirty="0" smtClean="0">
                <a:latin typeface="+mn-lt"/>
              </a:rPr>
              <a:t>.</a:t>
            </a:r>
          </a:p>
          <a:p>
            <a:pPr>
              <a:buFont typeface="Arial" pitchFamily="34" charset="0"/>
              <a:buChar char="•"/>
            </a:pPr>
            <a:endParaRPr lang="en-US" altLang="ko-KR" sz="1500" dirty="0" smtClean="0">
              <a:latin typeface="+mn-lt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1500" dirty="0" smtClean="0">
                <a:latin typeface="+mn-lt"/>
              </a:rPr>
              <a:t> </a:t>
            </a:r>
            <a:r>
              <a:rPr lang="ko-KR" altLang="en-US" sz="1500" dirty="0" smtClean="0">
                <a:latin typeface="+mn-lt"/>
              </a:rPr>
              <a:t>제가 속해있을 당시 </a:t>
            </a:r>
            <a:r>
              <a:rPr lang="en-US" altLang="ko-KR" sz="1500" dirty="0" smtClean="0">
                <a:latin typeface="+mn-lt"/>
              </a:rPr>
              <a:t>2018</a:t>
            </a:r>
            <a:r>
              <a:rPr lang="ko-KR" altLang="en-US" sz="1500" dirty="0" smtClean="0">
                <a:latin typeface="+mn-lt"/>
              </a:rPr>
              <a:t>년도 공사는 준정부기관 중 국정원 정보보안 평가에서 </a:t>
            </a:r>
            <a:r>
              <a:rPr lang="en-US" altLang="ko-KR" sz="1500" dirty="0" smtClean="0">
                <a:latin typeface="+mn-lt"/>
              </a:rPr>
              <a:t>1</a:t>
            </a:r>
            <a:r>
              <a:rPr lang="ko-KR" altLang="en-US" sz="1500" dirty="0" smtClean="0">
                <a:latin typeface="+mn-lt"/>
              </a:rPr>
              <a:t>위 성과 달성하였습니다</a:t>
            </a:r>
            <a:r>
              <a:rPr lang="en-US" altLang="ko-KR" sz="1500" dirty="0" smtClean="0">
                <a:latin typeface="+mn-lt"/>
              </a:rPr>
              <a:t>.</a:t>
            </a:r>
          </a:p>
          <a:p>
            <a:pPr>
              <a:buFont typeface="Arial" pitchFamily="34" charset="0"/>
              <a:buChar char="•"/>
            </a:pPr>
            <a:endParaRPr lang="en-US" altLang="ko-KR" sz="1500" dirty="0">
              <a:latin typeface="+mn-ea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1500" dirty="0" smtClean="0">
                <a:latin typeface="+mn-ea"/>
              </a:rPr>
              <a:t> </a:t>
            </a:r>
            <a:r>
              <a:rPr lang="ko-KR" altLang="en-US" sz="1500" dirty="0" smtClean="0">
                <a:latin typeface="+mn-ea"/>
              </a:rPr>
              <a:t>비록 짧은 기간이었지만 금융 공공기관의 정보 보안에 대해 배울 수 있었습니다</a:t>
            </a:r>
            <a:r>
              <a:rPr lang="en-US" altLang="ko-KR" sz="1500" dirty="0" smtClean="0">
                <a:latin typeface="+mn-ea"/>
              </a:rPr>
              <a:t>.</a:t>
            </a:r>
            <a:endParaRPr lang="en-US" altLang="ko-KR" sz="1500" dirty="0">
              <a:latin typeface="+mn-ea"/>
            </a:endParaRPr>
          </a:p>
        </p:txBody>
      </p:sp>
      <p:pic>
        <p:nvPicPr>
          <p:cNvPr id="12294" name="Picture 6" descr="http://www.itdaily.kr/news/photo/201804/88624_96915_485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354" y="2481063"/>
            <a:ext cx="2381250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8" name="Picture 10" descr="ê´ë ¨ ì´ë¯¸ì§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8322" y="2049018"/>
            <a:ext cx="1956046" cy="1956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16" descr="êµ­ì ì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24" descr="ê¸ìµì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1" name="Picture 4" descr="ê¸ìµìì ëí ì´ë¯¸ì§ ê²ìê²°ê³¼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211288"/>
            <a:ext cx="1793776" cy="179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9100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9"/>
          <p:cNvSpPr/>
          <p:nvPr/>
        </p:nvSpPr>
        <p:spPr>
          <a:xfrm>
            <a:off x="251520" y="1268760"/>
            <a:ext cx="8352928" cy="5256584"/>
          </a:xfrm>
          <a:prstGeom prst="roundRect">
            <a:avLst>
              <a:gd name="adj" fmla="val 5496"/>
            </a:avLst>
          </a:prstGeom>
          <a:ln w="12700"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제목 3"/>
          <p:cNvSpPr txBox="1">
            <a:spLocks/>
          </p:cNvSpPr>
          <p:nvPr/>
        </p:nvSpPr>
        <p:spPr>
          <a:xfrm>
            <a:off x="3059832" y="1028511"/>
            <a:ext cx="2664296" cy="384265"/>
          </a:xfrm>
          <a:prstGeom prst="roundRect">
            <a:avLst>
              <a:gd name="adj" fmla="val 19456"/>
            </a:avLst>
          </a:prstGeom>
          <a:solidFill>
            <a:schemeClr val="accent3"/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kumimoji="0" lang="ko-KR" altLang="en-US" b="1" dirty="0" smtClean="0">
                <a:solidFill>
                  <a:schemeClr val="bg1"/>
                </a:solidFill>
                <a:latin typeface="Mongolian Baiti" pitchFamily="66" charset="0"/>
                <a:ea typeface="+mj-ea"/>
                <a:cs typeface="Mongolian Baiti" pitchFamily="66" charset="0"/>
              </a:rPr>
              <a:t>모바일앱 서비스 업무</a:t>
            </a:r>
            <a:endParaRPr kumimoji="0" lang="ko-KR" altLang="en-US" b="1" dirty="0">
              <a:solidFill>
                <a:schemeClr val="bg1"/>
              </a:solidFill>
              <a:latin typeface="Mongolian Baiti" pitchFamily="66" charset="0"/>
              <a:ea typeface="+mj-ea"/>
              <a:cs typeface="Mongolian Baiti" pitchFamily="66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3528" y="4444370"/>
            <a:ext cx="81369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500" dirty="0" smtClean="0">
                <a:latin typeface="+mn-ea"/>
              </a:rPr>
              <a:t> </a:t>
            </a:r>
            <a:r>
              <a:rPr lang="ko-KR" altLang="en-US" sz="1500" dirty="0" smtClean="0">
                <a:latin typeface="+mn-ea"/>
              </a:rPr>
              <a:t>공사에서 코어계와 연동하여 고객들에게 대출 및 보증 신청을 접수받을 수 있는 채널계 중 모바일 어플리케이션 쪽의 수정개발 및 운영을 담당 하였습니다</a:t>
            </a:r>
            <a:r>
              <a:rPr lang="en-US" altLang="ko-KR" sz="1500" dirty="0" smtClean="0">
                <a:latin typeface="+mn-ea"/>
              </a:rPr>
              <a:t>. (</a:t>
            </a:r>
            <a:r>
              <a:rPr lang="ko-KR" altLang="en-US" sz="1500" dirty="0" smtClean="0">
                <a:latin typeface="+mn-ea"/>
              </a:rPr>
              <a:t>스마트주택금융 모바일 앱</a:t>
            </a:r>
            <a:r>
              <a:rPr lang="en-US" altLang="ko-KR" sz="1500" dirty="0" smtClean="0">
                <a:latin typeface="+mn-ea"/>
              </a:rPr>
              <a:t>, </a:t>
            </a:r>
            <a:r>
              <a:rPr lang="ko-KR" altLang="en-US" sz="1500" dirty="0" smtClean="0">
                <a:latin typeface="+mn-ea"/>
              </a:rPr>
              <a:t>안심주머니 모바일 앱</a:t>
            </a:r>
            <a:r>
              <a:rPr lang="en-US" altLang="ko-KR" sz="1500" dirty="0" smtClean="0">
                <a:latin typeface="+mn-ea"/>
              </a:rPr>
              <a:t>)</a:t>
            </a:r>
          </a:p>
          <a:p>
            <a:pPr>
              <a:buFont typeface="Arial" pitchFamily="34" charset="0"/>
              <a:buChar char="•"/>
            </a:pPr>
            <a:endParaRPr lang="en-US" altLang="ko-KR" sz="1500" dirty="0" smtClean="0">
              <a:latin typeface="+mn-ea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1500" dirty="0" smtClean="0">
                <a:latin typeface="+mn-ea"/>
              </a:rPr>
              <a:t> Android </a:t>
            </a:r>
            <a:r>
              <a:rPr lang="ko-KR" altLang="en-US" sz="1500" dirty="0" smtClean="0">
                <a:latin typeface="+mn-ea"/>
              </a:rPr>
              <a:t>와 </a:t>
            </a:r>
            <a:r>
              <a:rPr lang="en-US" altLang="ko-KR" sz="1500" dirty="0" smtClean="0">
                <a:latin typeface="+mn-ea"/>
              </a:rPr>
              <a:t>iOS </a:t>
            </a:r>
            <a:r>
              <a:rPr lang="ko-KR" altLang="en-US" sz="1500" dirty="0" smtClean="0">
                <a:latin typeface="+mn-ea"/>
              </a:rPr>
              <a:t>를 동시 지원하는 </a:t>
            </a:r>
            <a:r>
              <a:rPr lang="en-US" altLang="ko-KR" sz="1500" dirty="0" smtClean="0">
                <a:latin typeface="+mn-ea"/>
              </a:rPr>
              <a:t>Hybrid </a:t>
            </a:r>
            <a:r>
              <a:rPr lang="ko-KR" altLang="en-US" sz="1500" dirty="0" smtClean="0">
                <a:latin typeface="+mn-ea"/>
              </a:rPr>
              <a:t>앱 방식으로 화면은 </a:t>
            </a:r>
            <a:r>
              <a:rPr lang="en-US" altLang="ko-KR" sz="1500" dirty="0" smtClean="0">
                <a:latin typeface="+mn-ea"/>
              </a:rPr>
              <a:t>JSP </a:t>
            </a:r>
            <a:r>
              <a:rPr lang="ko-KR" altLang="en-US" sz="1500" dirty="0" smtClean="0">
                <a:latin typeface="+mn-ea"/>
              </a:rPr>
              <a:t>로 구성되어 있고</a:t>
            </a:r>
            <a:r>
              <a:rPr lang="en-US" altLang="ko-KR" sz="1500" dirty="0" smtClean="0">
                <a:latin typeface="+mn-ea"/>
              </a:rPr>
              <a:t>, </a:t>
            </a:r>
            <a:r>
              <a:rPr lang="ko-KR" altLang="en-US" sz="1500" dirty="0" smtClean="0">
                <a:latin typeface="+mn-ea"/>
              </a:rPr>
              <a:t>데이터는 </a:t>
            </a:r>
            <a:r>
              <a:rPr lang="en-US" altLang="ko-KR" sz="1500" dirty="0" smtClean="0">
                <a:latin typeface="+mn-ea"/>
              </a:rPr>
              <a:t>Spring </a:t>
            </a:r>
            <a:r>
              <a:rPr lang="ko-KR" altLang="en-US" sz="1500" dirty="0" smtClean="0">
                <a:latin typeface="+mn-ea"/>
              </a:rPr>
              <a:t>에서 가공하여 코어계로 넘겨주고 받는 형태로 구현되어 있습니다</a:t>
            </a:r>
            <a:r>
              <a:rPr lang="en-US" altLang="ko-KR" sz="1500" dirty="0" smtClean="0">
                <a:latin typeface="+mn-ea"/>
              </a:rPr>
              <a:t>.</a:t>
            </a:r>
          </a:p>
          <a:p>
            <a:pPr>
              <a:buFont typeface="Arial" pitchFamily="34" charset="0"/>
              <a:buChar char="•"/>
            </a:pPr>
            <a:endParaRPr lang="en-US" altLang="ko-KR" sz="1500" dirty="0" smtClean="0">
              <a:latin typeface="+mn-ea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1500" dirty="0" smtClean="0">
                <a:latin typeface="+mn-ea"/>
              </a:rPr>
              <a:t> </a:t>
            </a:r>
            <a:r>
              <a:rPr lang="ko-KR" altLang="en-US" sz="1500" dirty="0" smtClean="0">
                <a:latin typeface="+mn-ea"/>
              </a:rPr>
              <a:t>지원인력</a:t>
            </a:r>
            <a:r>
              <a:rPr lang="en-US" altLang="ko-KR" sz="1500" dirty="0" smtClean="0">
                <a:latin typeface="+mn-ea"/>
              </a:rPr>
              <a:t>, </a:t>
            </a:r>
            <a:r>
              <a:rPr lang="ko-KR" altLang="en-US" sz="1500" dirty="0" smtClean="0">
                <a:latin typeface="+mn-ea"/>
              </a:rPr>
              <a:t>외주인력이 없이 단독 수정개발</a:t>
            </a:r>
            <a:r>
              <a:rPr lang="en-US" altLang="ko-KR" sz="1500" dirty="0" smtClean="0">
                <a:latin typeface="+mn-ea"/>
              </a:rPr>
              <a:t>,</a:t>
            </a:r>
            <a:r>
              <a:rPr lang="ko-KR" altLang="en-US" sz="1500" dirty="0" smtClean="0">
                <a:latin typeface="+mn-ea"/>
              </a:rPr>
              <a:t> 관리</a:t>
            </a:r>
            <a:r>
              <a:rPr lang="en-US" altLang="ko-KR" sz="1500" dirty="0" smtClean="0">
                <a:latin typeface="+mn-ea"/>
              </a:rPr>
              <a:t>, </a:t>
            </a:r>
            <a:r>
              <a:rPr lang="ko-KR" altLang="en-US" sz="1500" dirty="0" smtClean="0">
                <a:latin typeface="+mn-ea"/>
              </a:rPr>
              <a:t>배포했습니다</a:t>
            </a:r>
            <a:r>
              <a:rPr lang="en-US" altLang="ko-KR" sz="1500" dirty="0" smtClean="0">
                <a:latin typeface="+mn-ea"/>
              </a:rPr>
              <a:t>.</a:t>
            </a:r>
            <a:endParaRPr lang="en-US" altLang="ko-KR" sz="1500" dirty="0">
              <a:latin typeface="+mn-ea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532594"/>
            <a:ext cx="1867000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532594"/>
            <a:ext cx="1800200" cy="2911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6104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부제목 2"/>
          <p:cNvSpPr txBox="1">
            <a:spLocks/>
          </p:cNvSpPr>
          <p:nvPr/>
        </p:nvSpPr>
        <p:spPr bwMode="auto">
          <a:xfrm>
            <a:off x="1607344" y="3107531"/>
            <a:ext cx="5929312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80000"/>
              </a:lnSpc>
            </a:pPr>
            <a:r>
              <a:rPr kumimoji="0" lang="ko-KR" altLang="en-US" sz="4400" b="1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감사합니다</a:t>
            </a:r>
            <a:endParaRPr kumimoji="0" lang="ko-KR" altLang="en-US" sz="4400" b="1" dirty="0">
              <a:solidFill>
                <a:schemeClr val="tx2">
                  <a:lumMod val="40000"/>
                  <a:lumOff val="6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612</Words>
  <Application>Microsoft Office PowerPoint</Application>
  <PresentationFormat>On-screen Show (4:3)</PresentationFormat>
  <Paragraphs>85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PORTFOLIO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PRESENTATION</dc:title>
  <dc:creator>JAEMIN PARK</dc:creator>
  <cp:lastModifiedBy>Jay</cp:lastModifiedBy>
  <cp:revision>49</cp:revision>
  <dcterms:modified xsi:type="dcterms:W3CDTF">2020-07-23T14:34:44Z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박재민_0913.pptx [Repaired]</vt:lpwstr>
  </property>
</Properties>
</file>